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64400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Spring · Week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061789"/>
            <a:ext cx="10566166" cy="1386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running server,</a:t>
            </a:r>
            <a:endParaRPr lang="en-US" sz="5200" dirty="0"/>
          </a:p>
          <a:p>
            <a:pPr algn="l" indent="0" marL="0">
              <a:lnSpc>
                <a:spcPts val="5500"/>
              </a:lnSpc>
              <a:buNone/>
            </a:pPr>
            <a:r>
              <a:rPr lang="en-US" sz="5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layered API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3651839"/>
            <a:ext cx="10566166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8FA8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Boot, HTTP, REST and the three layers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12810" y="4216938"/>
            <a:ext cx="10566166" cy="19020"/>
          </a:xfrm>
          <a:prstGeom prst="rect">
            <a:avLst/>
          </a:prstGeom>
          <a:solidFill>
            <a:srgbClr val="D4AF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2810" y="4439138"/>
            <a:ext cx="1056616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Eng. Mohamed Shehab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4966198"/>
            <a:ext cx="10566166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of Computers and Information, Menoufia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 of this session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10" y="1569659"/>
            <a:ext cx="519415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5990" y="1772839"/>
            <a:ext cx="478779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5990" y="2034449"/>
            <a:ext cx="4787798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Spring Boot project from start.spring.io, and what is inside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4727" y="1569659"/>
            <a:ext cx="519415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7907" y="1772839"/>
            <a:ext cx="478779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87907" y="2034449"/>
            <a:ext cx="4787798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layers first: repository, service, then the controller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10" y="2910810"/>
            <a:ext cx="519415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5990" y="3113989"/>
            <a:ext cx="478779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HTTP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5990" y="3375599"/>
            <a:ext cx="4787798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 request carries, and the server that answers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4727" y="2910810"/>
            <a:ext cx="519415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7907" y="3113989"/>
            <a:ext cx="478779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87907" y="3375599"/>
            <a:ext cx="4787798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GET, POST and DELETE on one resource, each with the right status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2074499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First, the misconception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568550"/>
            <a:ext cx="10566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Boot is Spring, already set up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10" y="3350819"/>
            <a:ext cx="5194158" cy="1229319"/>
          </a:xfrm>
          <a:prstGeom prst="roundRect">
            <a:avLst>
              <a:gd name="adj" fmla="val 82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3553998"/>
            <a:ext cx="478779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Spring Framework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3865169"/>
            <a:ext cx="478779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container from Week 3, plus web, data, transactions. Powerful and unopinionated.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727" y="3350819"/>
            <a:ext cx="5194158" cy="1229319"/>
          </a:xfrm>
          <a:prstGeom prst="roundRect">
            <a:avLst>
              <a:gd name="adj" fmla="val 8264"/>
            </a:avLst>
          </a:prstGeom>
          <a:solidFill>
            <a:srgbClr val="D4AF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87907" y="3553998"/>
            <a:ext cx="478779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87907" y="3865169"/>
            <a:ext cx="478779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4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framework with defaults, a server included and a starter for each job.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7.2.1 · Make it in front of them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do not write a Spring Boot pom by hand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2438339"/>
          </a:xfrm>
          <a:prstGeom prst="roundRect">
            <a:avLst>
              <a:gd name="adj" fmla="val 416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65869"/>
            <a:ext cx="10159716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start.spring.io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Maven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Java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Boot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4.1.2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Packaging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Jar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com.eventia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Artifact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eventia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21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Dependencies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 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10" y="4366169"/>
            <a:ext cx="5200559" cy="1229319"/>
          </a:xfrm>
          <a:prstGeom prst="roundRect">
            <a:avLst>
              <a:gd name="adj" fmla="val 82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569348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IntelliJ Ultimate or STS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880519"/>
            <a:ext cx="4794108" cy="25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Project has Spring Initializr built 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8418" y="4366169"/>
            <a:ext cx="5200559" cy="1229319"/>
          </a:xfrm>
          <a:prstGeom prst="roundRect">
            <a:avLst>
              <a:gd name="adj" fmla="val 82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1598" y="4569348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IntelliJ Community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81598" y="4880519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does not. Use the website and open the unzipped folder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pom.xml, as start.spring.io wrote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did the version numbers go?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37360"/>
            <a:ext cx="10566166" cy="2357049"/>
          </a:xfrm>
          <a:prstGeom prst="roundRect">
            <a:avLst>
              <a:gd name="adj" fmla="val 43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40540"/>
            <a:ext cx="10159716" cy="1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&lt;parent&gt;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&lt;artifactId&gt;spring-boot-starter-parent&lt;/artifactId&gt;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&lt;version&gt;4.1.2&lt;/version&gt; &lt;- the only version in the file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&lt;/parent&gt;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&lt;dependency&gt;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&lt;artifactId&gt;spring-boot-starter-webmvc&lt;/artifactId&gt; &lt;- no version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&lt;/dependency&gt;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246748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parent holds a tested set of versions. You name the library, it names the number.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pom.xml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line brings thirty eight JARs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88109"/>
            <a:ext cx="10566166" cy="2844698"/>
          </a:xfrm>
          <a:prstGeom prst="roundRect">
            <a:avLst>
              <a:gd name="adj" fmla="val 357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91289"/>
            <a:ext cx="10159716" cy="243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&lt;parent&gt;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&lt;groupId&gt;org.springframework.boot&lt;/groupId&gt;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&lt;artifactId&gt;spring-boot-starter-parent&lt;/artifactId&gt;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&lt;version&gt;4.1.2&lt;/version&gt;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&lt;/parent&gt;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&lt;dependency&gt;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&lt;groupId&gt;org.springframework.boot&lt;/groupId&gt;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&lt;artifactId&gt;spring-boot-starter-webmvc&lt;/artifactId&gt;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&lt;/dependency&gt;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810658"/>
            <a:ext cx="1056616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Counted with dependency:tree on this project. Tomcat, Jackson, logging and the web stack, all versioned by the parent.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EventiaApplication.java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Ctrl+Click on the annotation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88109"/>
            <a:ext cx="10566166" cy="1930390"/>
          </a:xfrm>
          <a:prstGeom prst="roundRect">
            <a:avLst>
              <a:gd name="adj" fmla="val 526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91289"/>
            <a:ext cx="10159716" cy="152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@SpringBootApplication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EventiaApplication {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static void main(String[] args) {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SpringApplication.run(EventiaApplication.class, args);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3896258"/>
          <a:ext cx="10566166" cy="914400"/>
        </p:xfrm>
        <a:graphic>
          <a:graphicData uri="http://schemas.openxmlformats.org/drawingml/2006/table">
            <a:tbl>
              <a:tblPr/>
              <a:tblGrid>
                <a:gridCol w="4226467"/>
                <a:gridCol w="63397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Inside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already know it from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@Configuration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AppConfig in Week 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@ComponentScan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scanner you wrote in Week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@EnableAutoConfiguration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nothing yet. This is the only new thing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src/main/resources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Settings live in a file, not in 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5206868" cy="1939260"/>
          </a:xfrm>
          <a:prstGeom prst="roundRect">
            <a:avLst>
              <a:gd name="adj" fmla="val 523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40540"/>
            <a:ext cx="4800509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application.properties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122140"/>
            <a:ext cx="4800509" cy="700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spring.application.name=eventia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server.port=8080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017" y="1762689"/>
            <a:ext cx="5206868" cy="1939260"/>
          </a:xfrm>
          <a:prstGeom prst="roundRect">
            <a:avLst>
              <a:gd name="adj" fmla="val 523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5197" y="1940540"/>
            <a:ext cx="4800509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keys as application.yml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75197" y="2122140"/>
            <a:ext cx="4800509" cy="140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application: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name: eventia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port: 8080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3867089"/>
            <a:ext cx="10566166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8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key per line. YAML says the same thing nested. Pick one format per project.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648755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any endpoint: where each job lives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091964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layers, one reason to change each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2725644"/>
            <a:ext cx="3420405" cy="1746870"/>
          </a:xfrm>
          <a:prstGeom prst="roundRect">
            <a:avLst>
              <a:gd name="adj" fmla="val 58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2928823"/>
            <a:ext cx="3014045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3190433"/>
            <a:ext cx="301404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5990" y="3501603"/>
            <a:ext cx="3014045" cy="7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Speaks HTTP. Reads the request, picks a status, returns a body.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5645" y="2725644"/>
            <a:ext cx="3420405" cy="1746870"/>
          </a:xfrm>
          <a:prstGeom prst="roundRect">
            <a:avLst>
              <a:gd name="adj" fmla="val 5816"/>
            </a:avLst>
          </a:prstGeom>
          <a:solidFill>
            <a:srgbClr val="D4AF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8825" y="2928823"/>
            <a:ext cx="3014045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E34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88825" y="3190433"/>
            <a:ext cx="301404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8825" y="3501603"/>
            <a:ext cx="3014045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4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Holds the rules. Knows nothing about HTTP at all.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8480" y="2725644"/>
            <a:ext cx="3420405" cy="1746870"/>
          </a:xfrm>
          <a:prstGeom prst="roundRect">
            <a:avLst>
              <a:gd name="adj" fmla="val 58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61660" y="2928823"/>
            <a:ext cx="3014045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61660" y="3190433"/>
            <a:ext cx="3014045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61660" y="3501603"/>
            <a:ext cx="3014045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Talks to storage. Today a list, later a database.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2810" y="4701113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storage becomes a real database, only the bottom box changes.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repository/InMemoryEventRepository.java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bottom layer: a list, for now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2357049"/>
          </a:xfrm>
          <a:prstGeom prst="roundRect">
            <a:avLst>
              <a:gd name="adj" fmla="val 43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65869"/>
            <a:ext cx="10159716" cy="1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@Repository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InMemoryEventRepository {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List&lt;EventDto&gt; findAll() { ... }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Optional&lt;EventDto&gt; findById(Long id) { ... }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EventDto save(String title, int capacity, LocalDateTime startsAt) { ... }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boolean deleteById(Long id) { ... }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284878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methods are already named the way a database repository is named. That is deliberate.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service/EventService.java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7140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rule: no HTTP words in here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11940"/>
            <a:ext cx="10566166" cy="3254258"/>
          </a:xfrm>
          <a:prstGeom prst="roundRect">
            <a:avLst>
              <a:gd name="adj" fmla="val 312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15119"/>
            <a:ext cx="10159716" cy="284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EventService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private final InMemoryEventRepository repository;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List&lt;EventDto&gt; findAll()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return repository.findAll();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Optional&lt;EventDto&gt; findById(Long id) {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return repository.findById(id);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5105918"/>
            <a:ext cx="10566166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ResponseEntity, no status code, no HttpServletRequest. It returns what it found, and the controller decides what that means over HTTP.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any Java: what actually travels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request and a response are just text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37360"/>
            <a:ext cx="5206868" cy="1574780"/>
          </a:xfrm>
          <a:prstGeom prst="roundRect">
            <a:avLst>
              <a:gd name="adj" fmla="val 645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40540"/>
            <a:ext cx="4800509" cy="116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/api/events/1 HTTP/1.1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method, path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Host: localhost:8080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Accept: application/json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headers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 GET has no body)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017" y="1737360"/>
            <a:ext cx="5206868" cy="1341059"/>
          </a:xfrm>
          <a:prstGeom prst="roundRect">
            <a:avLst>
              <a:gd name="adj" fmla="val 757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5197" y="1940540"/>
            <a:ext cx="4800509" cy="93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HTTP/1.1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status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Content-Type: application/json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{"id":1,"title":"Spring Boot Workshop"}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body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3464479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parts going in: method, path, headers, body. Three coming back: status, headers, body.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first word of the request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method says what you want done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762689"/>
          <a:ext cx="10566166" cy="914400"/>
        </p:xfrm>
        <a:graphic>
          <a:graphicData uri="http://schemas.openxmlformats.org/drawingml/2006/table">
            <a:tbl>
              <a:tblPr/>
              <a:tblGrid>
                <a:gridCol w="1690587"/>
                <a:gridCol w="4649113"/>
                <a:gridCol w="1267940"/>
                <a:gridCol w="295852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Body?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Success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Give me this. Change nothing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 with the data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Make a new one from this body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201 and where it is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Replace this one with this body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 or 204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Remove this one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204, nothing to say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3594689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can be repeated a thousand times and nothing changes. POST twice makes two.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ones you will actually use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81440"/>
            <a:ext cx="10566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 codes worth knowing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038289"/>
          <a:ext cx="10566166" cy="914400"/>
        </p:xfrm>
        <a:graphic>
          <a:graphicData uri="http://schemas.openxmlformats.org/drawingml/2006/table">
            <a:tbl>
              <a:tblPr/>
              <a:tblGrid>
                <a:gridCol w="1056617"/>
                <a:gridCol w="2324557"/>
                <a:gridCol w="718499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When you send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successful GET, or an update that returns the new state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POST that made something. Add a Location header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Content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successful DELETE, or an update with nothing to return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Bad Request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body or a parameter is wrong. The client can fix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Found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such resource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Conflict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request is valid but the state says no. Used once booking has rules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Server Error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broke. Never send details with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79323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any of this existed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21101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request, one operating system process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2819370"/>
            <a:ext cx="5200559" cy="1229319"/>
          </a:xfrm>
          <a:prstGeom prst="roundRect">
            <a:avLst>
              <a:gd name="adj" fmla="val 82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3022549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CGI, 1993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3333628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server forks a program per request. It starts, prints HTTP to stdout, and dies.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18" y="2819370"/>
            <a:ext cx="5200559" cy="1229319"/>
          </a:xfrm>
          <a:prstGeom prst="roundRect">
            <a:avLst>
              <a:gd name="adj" fmla="val 8264"/>
            </a:avLst>
          </a:prstGeom>
          <a:solidFill>
            <a:srgbClr val="D4AF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81598" y="3022549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Servlet, 1997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81598" y="3333628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4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object, loaded once, handling every request on a thread pool.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4251869"/>
            <a:ext cx="1056616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Servlets exist because starting a process per request does not scale. Everything after that is refinement.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replaced the program-per-request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788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servlet is a Java class that answers requests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99539"/>
            <a:ext cx="3428909" cy="1642080"/>
          </a:xfrm>
          <a:prstGeom prst="roundRect">
            <a:avLst>
              <a:gd name="adj" fmla="val 618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3280" y="1990009"/>
            <a:ext cx="3047970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write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3280" y="2235159"/>
            <a:ext cx="30479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class that extends HttpServlet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3280" y="2793949"/>
            <a:ext cx="3047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Override doGet for GET, doPost for POST. Nothing else is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1348" y="1799539"/>
            <a:ext cx="3428909" cy="1642080"/>
          </a:xfrm>
          <a:prstGeom prst="roundRect">
            <a:avLst>
              <a:gd name="adj" fmla="val 618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1909" y="1990009"/>
            <a:ext cx="3047970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receives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1909" y="2235159"/>
            <a:ext cx="3047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HttpServletRequest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1909" y="2546330"/>
            <a:ext cx="3047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the client sent: method, path, parameters, headers, body.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49976" y="1799539"/>
            <a:ext cx="3428909" cy="1642080"/>
          </a:xfrm>
          <a:prstGeom prst="roundRect">
            <a:avLst>
              <a:gd name="adj" fmla="val 618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0537" y="1990009"/>
            <a:ext cx="3047970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fills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140537" y="2235159"/>
            <a:ext cx="3047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HttpServletResponse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40537" y="2546330"/>
            <a:ext cx="3047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that goes back: the status, the headers, the body.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2810" y="3632088"/>
            <a:ext cx="10566166" cy="27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Tomcat makes one object of it, keeps it alive, and calls it for every request on its path.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line of the HTTP message has a method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objects: what came in, what goes out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748790"/>
          <a:ext cx="10566166" cy="914400"/>
        </p:xfrm>
        <a:graphic>
          <a:graphicData uri="http://schemas.openxmlformats.org/drawingml/2006/table">
            <a:tbl>
              <a:tblPr/>
              <a:tblGrid>
                <a:gridCol w="2535880"/>
                <a:gridCol w="2324557"/>
                <a:gridCol w="3169850"/>
                <a:gridCol w="2535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HttpServletRequest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gives you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HttpServletResponse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getMethod()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"GET"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setStatus(200)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number on the first 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getRequestURI()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"/hello"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setContentType("text/plain")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Content-Type header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getParameter("name")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"Ahmed" from ?name=Ahmed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setHeader("Location", ...)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other header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getHeader("Accept")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header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getWriter().write(...)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body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getReader()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body, as 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3754069"/>
            <a:ext cx="10566166" cy="27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8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is the request slide read by Java. Right is the response slide written by Java.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web/HelloServlet.java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16300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servlet, written by hand, in our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596360"/>
            <a:ext cx="5238598" cy="3780678"/>
          </a:xfrm>
          <a:prstGeom prst="roundRect">
            <a:avLst>
              <a:gd name="adj" fmla="val 268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5149" y="1710660"/>
            <a:ext cx="4933828" cy="3443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HelloServlet extends HttpServlet {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void init() {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System.out.println("HelloServlet init, this runs once");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protected void doGet(HttpServletRequest request,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   HttpServletResponse response)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throws IOException {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System.out.println("doGet on thread "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+ Thread.currentThread().getName());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String name = request.getParameter("name");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response.setContentType("text/plain");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(name == null) {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response.setStatus(400);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response.getWriter().write("name is required");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response.setStatus(200);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response.getWriter().write("Hello, " + name);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9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40287" y="1596360"/>
            <a:ext cx="5238598" cy="1177290"/>
          </a:xfrm>
          <a:prstGeom prst="roundRect">
            <a:avLst>
              <a:gd name="adj" fmla="val 862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92718" y="1710660"/>
            <a:ext cx="493382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Registered in EventiaApplication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92718" y="1859250"/>
            <a:ext cx="49338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ServletRegistrationBean&lt;HelloServlet&gt;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helloServlet() {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new ServletRegistrationBean&lt;&gt;(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new HelloServlet(), "/hello");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40287" y="2862529"/>
            <a:ext cx="5238598" cy="1515069"/>
          </a:xfrm>
          <a:prstGeom prst="roundRect">
            <a:avLst>
              <a:gd name="adj" fmla="val 670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2718" y="2976829"/>
            <a:ext cx="493382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Sent with curl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92718" y="3125419"/>
            <a:ext cx="4933828" cy="1137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.../hello?name=Ahmed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Hello, Ahmed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.../hello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is required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-X POST .../hello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405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Method Not Allowed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40287" y="4466478"/>
            <a:ext cx="5238598" cy="910560"/>
          </a:xfrm>
          <a:prstGeom prst="roundRect">
            <a:avLst>
              <a:gd name="adj" fmla="val 1115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2718" y="4580778"/>
            <a:ext cx="493382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Printed in the console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92718" y="4729368"/>
            <a:ext cx="4933828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HelloServlet init, this runs once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doGet on thread http-nio-8080-exec-1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doGet on thread http-nio-8080-exec-2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doGet on thread http-nio-8080-exec-6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interface everything on this slide deck sits 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servlet is three methods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37360"/>
            <a:ext cx="10566166" cy="1422349"/>
          </a:xfrm>
          <a:prstGeom prst="roundRect">
            <a:avLst>
              <a:gd name="adj" fmla="val 714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40540"/>
            <a:ext cx="10159716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init(ServletConfig) once, at startup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service(request, response) every request, on a pooled thread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-&gt; doGet / doPost / doPut / doDelete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destroy() once, at shutdown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3312048"/>
            <a:ext cx="1056616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Tomcat calls these for you: init once, service on every request from its thread pool, destroy at shutdown.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keeps that one object alive, and calls it?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788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Tomcat: the program that runs your servlets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813530"/>
            <a:ext cx="2011589" cy="1574140"/>
          </a:xfrm>
          <a:prstGeom prst="roundRect">
            <a:avLst>
              <a:gd name="adj" fmla="val 645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7859" y="1978579"/>
            <a:ext cx="168139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77859" y="2283440"/>
            <a:ext cx="1681399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Listens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7859" y="2565349"/>
            <a:ext cx="1681399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Keeps port 8080 open and waits.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51409" y="1813530"/>
            <a:ext cx="2011589" cy="1574140"/>
          </a:xfrm>
          <a:prstGeom prst="roundRect">
            <a:avLst>
              <a:gd name="adj" fmla="val 645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16458" y="1978579"/>
            <a:ext cx="168139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116458" y="2283440"/>
            <a:ext cx="1681399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16458" y="2565349"/>
            <a:ext cx="1681399" cy="65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the HTTP text into a request object.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90008" y="1813530"/>
            <a:ext cx="2011589" cy="1574140"/>
          </a:xfrm>
          <a:prstGeom prst="roundRect">
            <a:avLst>
              <a:gd name="adj" fmla="val 645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5148" y="1978579"/>
            <a:ext cx="168139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55148" y="2283440"/>
            <a:ext cx="1681399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Hands off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55148" y="2565349"/>
            <a:ext cx="1681399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Takes a thread from its pool of 200.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8698" y="1813530"/>
            <a:ext cx="2011589" cy="1574140"/>
          </a:xfrm>
          <a:prstGeom prst="roundRect">
            <a:avLst>
              <a:gd name="adj" fmla="val 645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93747" y="1978579"/>
            <a:ext cx="168139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93747" y="2283440"/>
            <a:ext cx="1681399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93747" y="2565349"/>
            <a:ext cx="1681399" cy="65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Finds the servlet for the path and calls service().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67296" y="1813530"/>
            <a:ext cx="2011589" cy="1574140"/>
          </a:xfrm>
          <a:prstGeom prst="roundRect">
            <a:avLst>
              <a:gd name="adj" fmla="val 645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2346" y="1978579"/>
            <a:ext cx="168139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532346" y="2283440"/>
            <a:ext cx="1681399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32346" y="2565349"/>
            <a:ext cx="1681399" cy="65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the response object back into HTTP text.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3578139"/>
            <a:ext cx="10566166" cy="589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web server plus a servlet container. Jetty and Undertow do the same job. Your code only ever sees step 4.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one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There is a web server inside your JAR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88109"/>
            <a:ext cx="10566166" cy="934700"/>
          </a:xfrm>
          <a:prstGeom prst="roundRect">
            <a:avLst>
              <a:gd name="adj" fmla="val 1086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91289"/>
            <a:ext cx="10159716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Tomcat started on port 8080 (http) with context path '/'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Started EventiaApplication in 1.5 seconds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2900568"/>
            <a:ext cx="1056616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installed nothing. Tomcat arrived with spring-boot-starter-webmvc, and Boot started it because the class was on the classpath.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server lives, and who starts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81440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WAR into a server, or a server inside a JAR</a:t>
            </a:r>
            <a:endParaRPr lang="en-US" sz="2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940540"/>
          <a:ext cx="10566166" cy="914400"/>
        </p:xfrm>
        <a:graphic>
          <a:graphicData uri="http://schemas.openxmlformats.org/drawingml/2006/table">
            <a:tbl>
              <a:tblPr/>
              <a:tblGrid>
                <a:gridCol w="2324557"/>
                <a:gridCol w="4120805"/>
                <a:gridCol w="412080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old way: WAR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do: executable JAR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ship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WAR file, classes and web resources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JAR with your code and Tomcat inside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Tomcat is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Installed on the server, shared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dependency, versioned in your pom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Started by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operations team, separately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 -jar app.jar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Upgrading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server-wide change, every app at once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line in your pom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535095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whole trip, once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978304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stops between the browser and your 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2611984"/>
            <a:ext cx="1686977" cy="1994489"/>
          </a:xfrm>
          <a:prstGeom prst="roundRect">
            <a:avLst>
              <a:gd name="adj" fmla="val 602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2815163"/>
            <a:ext cx="128052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3076773"/>
            <a:ext cx="1280526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Tomcat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5990" y="3387943"/>
            <a:ext cx="1280526" cy="7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Listens on the port, reads the bytes.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88575" y="2611984"/>
            <a:ext cx="1686977" cy="1994489"/>
          </a:xfrm>
          <a:prstGeom prst="roundRect">
            <a:avLst>
              <a:gd name="adj" fmla="val 602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1846" y="2815163"/>
            <a:ext cx="128052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91846" y="3076773"/>
            <a:ext cx="1280526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DispatcherServlet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91846" y="3635563"/>
            <a:ext cx="1280526" cy="7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single front door for every request.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4431" y="2611984"/>
            <a:ext cx="1686977" cy="1994489"/>
          </a:xfrm>
          <a:prstGeom prst="roundRect">
            <a:avLst>
              <a:gd name="adj" fmla="val 602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7611" y="2815163"/>
            <a:ext cx="128052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67611" y="3076773"/>
            <a:ext cx="1280526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HandlerMapping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67611" y="3635563"/>
            <a:ext cx="1280526" cy="7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method matches this URL and verb?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40287" y="2611984"/>
            <a:ext cx="1686977" cy="1994489"/>
          </a:xfrm>
          <a:prstGeom prst="roundRect">
            <a:avLst>
              <a:gd name="adj" fmla="val 6022"/>
            </a:avLst>
          </a:prstGeom>
          <a:solidFill>
            <a:srgbClr val="D4AF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43467" y="2815163"/>
            <a:ext cx="128052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E34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43467" y="3076773"/>
            <a:ext cx="1280526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controller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43467" y="3635563"/>
            <a:ext cx="1280526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4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only part you write.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16144" y="2611984"/>
            <a:ext cx="1686977" cy="1994489"/>
          </a:xfrm>
          <a:prstGeom prst="roundRect">
            <a:avLst>
              <a:gd name="adj" fmla="val 602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323" y="2815163"/>
            <a:ext cx="128052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19323" y="3076773"/>
            <a:ext cx="1280526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MessageConverter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19323" y="3635563"/>
            <a:ext cx="1280526" cy="7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the returned object into JSON.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000" y="2611984"/>
            <a:ext cx="1686977" cy="1994489"/>
          </a:xfrm>
          <a:prstGeom prst="roundRect">
            <a:avLst>
              <a:gd name="adj" fmla="val 602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95180" y="2815163"/>
            <a:ext cx="128052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895180" y="3076773"/>
            <a:ext cx="1280526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Tomcat again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95180" y="3635563"/>
            <a:ext cx="1280526" cy="7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status, headers and body back.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2810" y="4835073"/>
            <a:ext cx="10566166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8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write one of these six. Boot gives you the other five.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869399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two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33802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front door, not one per URL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2997129"/>
            <a:ext cx="5200559" cy="1229319"/>
          </a:xfrm>
          <a:prstGeom prst="roundRect">
            <a:avLst>
              <a:gd name="adj" fmla="val 82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3200309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Without a front controller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3511479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URL is its own servlet, and every cross-cutting concern is copied into all of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18" y="2997129"/>
            <a:ext cx="5200559" cy="1229319"/>
          </a:xfrm>
          <a:prstGeom prst="roundRect">
            <a:avLst>
              <a:gd name="adj" fmla="val 8264"/>
            </a:avLst>
          </a:prstGeom>
          <a:solidFill>
            <a:srgbClr val="D4AF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81598" y="3200309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DispatcherServlet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81598" y="3511479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4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servlet takes everything, then routes. Logging, security and error handling live there.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4480469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that has to happen on every request happens once, in one place.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three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URL finds your method</a:t>
            </a:r>
            <a:endParaRPr lang="en-US" sz="2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762689"/>
          <a:ext cx="10566166" cy="914400"/>
        </p:xfrm>
        <a:graphic>
          <a:graphicData uri="http://schemas.openxmlformats.org/drawingml/2006/table">
            <a:tbl>
              <a:tblPr/>
              <a:tblGrid>
                <a:gridCol w="3592497"/>
                <a:gridCol w="2747203"/>
                <a:gridCol w="42264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 and path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Goes 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Because of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/api/events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findAll()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@GetMapping with no path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/api/events/1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findById(1)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@GetMapping("/{id}")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/api/events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create(body)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@PostMapping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DELETE /api/events/1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delete(1)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@DeleteMapping("/{id}")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3661349"/>
            <a:ext cx="10566166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FA8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once at startup by reading your annotations, the same reflection you wrote in Week 2.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web/EventController.java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four: the part you write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48790"/>
            <a:ext cx="10566166" cy="2816169"/>
          </a:xfrm>
          <a:prstGeom prst="roundRect">
            <a:avLst>
              <a:gd name="adj" fmla="val 360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26549"/>
            <a:ext cx="10159716" cy="24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Controller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@RequestMapping("/api/events")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EventController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private final EventService service;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EventController(EventService service)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this.service = service;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730008"/>
            <a:ext cx="10566166" cy="27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@Controller tells Spring: this class answers web requests. Same family as @Service and @Repository.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web/EventController.java, still a plain @Controller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first endpoint, and a surprise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48790"/>
            <a:ext cx="10566166" cy="1339779"/>
          </a:xfrm>
          <a:prstGeom prst="roundRect">
            <a:avLst>
              <a:gd name="adj" fmla="val 758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26549"/>
            <a:ext cx="10159716" cy="98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List&lt;EventDto&gt; findAll()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service.findAll();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10" y="3253618"/>
            <a:ext cx="10566166" cy="808330"/>
          </a:xfrm>
          <a:prstGeom prst="roundRect">
            <a:avLst>
              <a:gd name="adj" fmla="val 1256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3431469"/>
            <a:ext cx="10159716" cy="452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http://localhost:8080/api/events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{"status":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404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,"error":"Not Found","path":"/api/events"}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4227088"/>
            <a:ext cx="10566166" cy="27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method exists and the path matches. So why 404?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web/EventController.java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@ResponseBody: what you return is the body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48790"/>
            <a:ext cx="10566166" cy="1585844"/>
          </a:xfrm>
          <a:prstGeom prst="roundRect">
            <a:avLst>
              <a:gd name="adj" fmla="val 640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26549"/>
            <a:ext cx="10159716" cy="1230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ResponseBody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List&lt;EventDto&gt; findAll()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service.findAll();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10" y="3499683"/>
            <a:ext cx="10566166" cy="1221730"/>
          </a:xfrm>
          <a:prstGeom prst="roundRect">
            <a:avLst>
              <a:gd name="adj" fmla="val 831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3677534"/>
            <a:ext cx="10159716" cy="86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http://localhost:8080/api/events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[{"id":1,"title":"Spring Boot Workshop","capacity":40,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"startsAt":"2026-11-05T08:15:11.0244691"},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{"id":2,"title":"Docker for Beginners","capacity":25, ...}] </a:t>
            </a:r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4886554"/>
            <a:ext cx="10566166" cy="5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@ResponseBody: the return value is the name of a page. With it: the return value is the data, written as JSON.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Ctrl+Click on @RestController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7140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@RestController = @Controller + @ResponseBody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697949"/>
            <a:ext cx="3437412" cy="2220255"/>
          </a:xfrm>
          <a:prstGeom prst="roundRect">
            <a:avLst>
              <a:gd name="adj" fmla="val 457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875709"/>
            <a:ext cx="3030962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Before, w4-10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057309"/>
            <a:ext cx="3030962" cy="168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@Controller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@RequestMapping("/api/events")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EventController {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@GetMapping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@ResponseBody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List&lt;EventDto&gt; findAll()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...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7141" y="1697949"/>
            <a:ext cx="3437412" cy="2220255"/>
          </a:xfrm>
          <a:prstGeom prst="roundRect">
            <a:avLst>
              <a:gd name="adj" fmla="val 457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0321" y="1875709"/>
            <a:ext cx="3030962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After, w4-11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80321" y="2057309"/>
            <a:ext cx="3030962" cy="149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RestController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@RequestMapping("/api/events")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EventController {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@GetMapping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 List&lt;EventDto&gt; findAll()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...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41564" y="1697949"/>
            <a:ext cx="3437412" cy="2220255"/>
          </a:xfrm>
          <a:prstGeom prst="roundRect">
            <a:avLst>
              <a:gd name="adj" fmla="val 457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4744" y="1875709"/>
            <a:ext cx="3030962" cy="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Inside it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44744" y="2057309"/>
            <a:ext cx="3030962" cy="56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@Controller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@ResponseBody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@interface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RestController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4057833"/>
          <a:ext cx="10566166" cy="914400"/>
        </p:xfrm>
        <a:graphic>
          <a:graphicData uri="http://schemas.openxmlformats.org/drawingml/2006/table">
            <a:tbl>
              <a:tblPr/>
              <a:tblGrid>
                <a:gridCol w="3522055"/>
                <a:gridCol w="3522055"/>
                <a:gridCol w="35220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@Controller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@RestController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method returns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name of a page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data itself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sends 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HTML page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JSON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Used for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websites with server-side pages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APIs, like ours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web/EventController.java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 a value out of the URL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2357049"/>
          </a:xfrm>
          <a:prstGeom prst="roundRect">
            <a:avLst>
              <a:gd name="adj" fmla="val 43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65869"/>
            <a:ext cx="10159716" cy="1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@GetMapping("/{id}")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ResponseEntity&lt;EventDto&gt; findById(@PathVariable Long id) {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Optional&lt;EventDto&gt; event = service.findById(id);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(event.isPresent()) {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return ResponseEntity.ok(event.get());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ResponseEntity.notFound().build();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284878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name in the braces and the parameter name must match, or you tell Spring the name yourself.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decision inside that method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404, not 200 with nothing in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5200559" cy="1232520"/>
          </a:xfrm>
          <a:prstGeom prst="roundRect">
            <a:avLst>
              <a:gd name="adj" fmla="val 824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65869"/>
            <a:ext cx="479410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70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200 with an empty body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280239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 has to guess. Some will treat it as success.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18" y="1762689"/>
            <a:ext cx="5200559" cy="1232520"/>
          </a:xfrm>
          <a:prstGeom prst="roundRect">
            <a:avLst>
              <a:gd name="adj" fmla="val 824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1598" y="1965869"/>
            <a:ext cx="479410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5FB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404 Not Found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81598" y="2280239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Unambiguous. Every HTTP client already knows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10" y="3160349"/>
            <a:ext cx="10566166" cy="914400"/>
          </a:xfrm>
          <a:prstGeom prst="roundRect">
            <a:avLst>
              <a:gd name="adj" fmla="val 111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5990" y="3363529"/>
            <a:ext cx="10159716" cy="50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-o /dev/null -w "%{http_code}" http://localhost:8080/api/events/99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web/EventController.java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Taking a body in, sending a location back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37360"/>
            <a:ext cx="10566166" cy="2113270"/>
          </a:xfrm>
          <a:prstGeom prst="roundRect">
            <a:avLst>
              <a:gd name="adj" fmla="val 480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40540"/>
            <a:ext cx="10159716" cy="170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@PostMapping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ResponseEntity&lt;EventDto&gt; create(@RequestBody CreateEventRequest request) {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EventDto created = service.create(request);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ResponseEntity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.created(URI.create("/api/events/" + created.id()))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.body(created);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002969"/>
            <a:ext cx="10566166" cy="1625529"/>
          </a:xfrm>
          <a:prstGeom prst="roundRect">
            <a:avLst>
              <a:gd name="adj" fmla="val 625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206149"/>
            <a:ext cx="10159716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HTTP/1.1 201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Location: /api/events/3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Content-Type: application/json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{"id":3,"title":"Intro to Redis","capacity":30,"startsAt":"2026-11-01T18:00:00"}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eventia / web/EventController.java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response with no body at all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1676370"/>
          </a:xfrm>
          <a:prstGeom prst="roundRect">
            <a:avLst>
              <a:gd name="adj" fmla="val 606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65869"/>
            <a:ext cx="10159716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@DeleteMapping("/{id}")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@ResponseStatus(HttpStatus.NO_CONTENT)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void delete(@PathVariable Long id) {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service.delete(id);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10" y="3604199"/>
            <a:ext cx="10566166" cy="894100"/>
          </a:xfrm>
          <a:prstGeom prst="roundRect">
            <a:avLst>
              <a:gd name="adj" fmla="val 1136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3807379"/>
            <a:ext cx="10159716" cy="48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curl -o /dev/null -w "%{http_code}" -X DELETE http://localhost:8080/api/events/2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HelloServlet next to EventController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did by hand, Spring now does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748790"/>
          <a:ext cx="10566166" cy="914400"/>
        </p:xfrm>
        <a:graphic>
          <a:graphicData uri="http://schemas.openxmlformats.org/drawingml/2006/table">
            <a:tbl>
              <a:tblPr/>
              <a:tblGrid>
                <a:gridCol w="2324557"/>
                <a:gridCol w="4226467"/>
                <a:gridCol w="401514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job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HelloServlet, by hand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the controller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 the URL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 ServletRegistrationBean&lt;&gt;(..., "/hello"), one path per servlet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@GetMapping("/{id}") on each method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the input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request.getParameter("name")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@PathVariable, @RequestBody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Choose the status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response.setStatus(400)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ResponseEntity, @ResponseStatus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 the content type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setContentType("text/plain")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MessageConverter, from what you return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Write the body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getWriter().write(...), a string you build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Jackson turns the object into JSON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Refuse other methods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405 from HttpServlet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405 from the DispatcherServlet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3967399"/>
            <a:ext cx="10566166" cy="27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controller still runs inside a servlet: the DispatcherServlet. Spring writes that plumbing once.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776679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five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21988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turned the object into JSON?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2853660"/>
            <a:ext cx="5200559" cy="1490929"/>
          </a:xfrm>
          <a:prstGeom prst="roundRect">
            <a:avLst>
              <a:gd name="adj" fmla="val 681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3056839"/>
            <a:ext cx="479410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 to JSON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3318449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Going out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5990" y="3629528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returned object is handed to a MessageConverter, which writes JSON into the response.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18" y="2853660"/>
            <a:ext cx="5200559" cy="1490929"/>
          </a:xfrm>
          <a:prstGeom prst="roundRect">
            <a:avLst>
              <a:gd name="adj" fmla="val 681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1598" y="3056839"/>
            <a:ext cx="479410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JSON to object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81598" y="3318449"/>
            <a:ext cx="479410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Coming 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81598" y="3629528"/>
            <a:ext cx="4794108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@RequestBody sends the request body through the same converter, the other way.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573189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Jackson, the library from Week 1, now version 3. It came with the starter this time.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classes that look the same today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81440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the API shape is its own class</a:t>
            </a:r>
            <a:endParaRPr lang="en-US" sz="2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940540"/>
          <a:ext cx="10566166" cy="914400"/>
        </p:xfrm>
        <a:graphic>
          <a:graphicData uri="http://schemas.openxmlformats.org/drawingml/2006/table">
            <a:tbl>
              <a:tblPr/>
              <a:tblGrid>
                <a:gridCol w="2324557"/>
                <a:gridCol w="3803820"/>
                <a:gridCol w="443779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DTO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entity, once a database arrives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Owned by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API contract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database schema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Changes when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Clients need a different shape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tables change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what the client should see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Everything a row has, including what it should not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1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Breaking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 every client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 a migration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218185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 honest about what this 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625060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Restart the application and the data is gone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3258739"/>
            <a:ext cx="10566166" cy="680679"/>
          </a:xfrm>
          <a:prstGeom prst="roundRect">
            <a:avLst>
              <a:gd name="adj" fmla="val 1492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3461918"/>
            <a:ext cx="1015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final List&lt;EventDto&gt; events = new ArrayList&lt;&gt;();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168018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in a field is not storage. It is a placeholder that lets us finish HTTP today.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things to take away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10" y="1357610"/>
            <a:ext cx="5219578" cy="1410919"/>
          </a:xfrm>
          <a:prstGeom prst="roundRect">
            <a:avLst>
              <a:gd name="adj" fmla="val 720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5990" y="1560789"/>
            <a:ext cx="481321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5990" y="1822399"/>
            <a:ext cx="4813219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Boot is Spring with defaults, a bundled server and a starter per job.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59307" y="1357610"/>
            <a:ext cx="5219578" cy="1410919"/>
          </a:xfrm>
          <a:prstGeom prst="roundRect">
            <a:avLst>
              <a:gd name="adj" fmla="val 720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2578" y="1560789"/>
            <a:ext cx="481321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62578" y="1822399"/>
            <a:ext cx="481321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request is a method, a path, headers and a body. A response is a status, headers and a body.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10" y="2895539"/>
            <a:ext cx="521957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5990" y="3098719"/>
            <a:ext cx="481321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5990" y="3360329"/>
            <a:ext cx="4813219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method says what you want. The status says what happened.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59307" y="2895539"/>
            <a:ext cx="521957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2578" y="3098719"/>
            <a:ext cx="481321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62578" y="3360329"/>
            <a:ext cx="4813219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servlet answers every request, so anything in a field is shared.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10" y="4185849"/>
            <a:ext cx="521957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5990" y="4389029"/>
            <a:ext cx="481321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5990" y="4650638"/>
            <a:ext cx="4813219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@RestController returns objects, and Jackson turns them into JSON.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59307" y="4185849"/>
            <a:ext cx="5219578" cy="1163300"/>
          </a:xfrm>
          <a:prstGeom prst="roundRect">
            <a:avLst>
              <a:gd name="adj" fmla="val 87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2578" y="4389029"/>
            <a:ext cx="481321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62578" y="4650638"/>
            <a:ext cx="4813219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layers, one reason to change each. The database will only touch the bottom one.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4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20199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412279"/>
            <a:ext cx="10566166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Validation and errors: an API that refuses bad input, politely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3466399"/>
            <a:ext cx="10566166" cy="19020"/>
          </a:xfrm>
          <a:prstGeom prst="rect">
            <a:avLst/>
          </a:prstGeom>
          <a:solidFill>
            <a:srgbClr val="D4AF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2810" y="3663178"/>
            <a:ext cx="1056616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Eng. Mohamed Shehab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164818"/>
            <a:ext cx="10566166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of Computers and Information, Menoufia University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4590288"/>
            <a:ext cx="10566166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mohamed.shehab.fci@gmail.com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Spring Boot و HTTP و REST والطبقات</dc:title>
  <dc:subject>PptxGenJS Presentation</dc:subject>
  <dc:creator>PptxGenJS</dc:creator>
  <cp:lastModifiedBy>PptxGenJS</cp:lastModifiedBy>
  <cp:revision>1</cp:revision>
  <dcterms:created xsi:type="dcterms:W3CDTF">2026-10-30T22:47:19Z</dcterms:created>
  <dcterms:modified xsi:type="dcterms:W3CDTF">2026-10-30T22:47:19Z</dcterms:modified>
</cp:coreProperties>
</file>