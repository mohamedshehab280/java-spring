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61036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Java Spring · 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028190"/>
            <a:ext cx="10566400" cy="1492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500" b="1" i="0">
                <a:solidFill>
                  <a:srgbClr val="F7F5F0"/>
                </a:solidFill>
                <a:latin typeface="Space Grotesk"/>
              </a:rPr>
              <a:t>Logs, and who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500" b="1" i="0">
                <a:solidFill>
                  <a:srgbClr val="F7F5F0"/>
                </a:solidFill>
                <a:latin typeface="Space Grotesk"/>
              </a:rPr>
              <a:t>builds your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698240"/>
            <a:ext cx="10566400" cy="387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8FA8CC"/>
                </a:solidFill>
                <a:latin typeface="IBM Plex Sans"/>
              </a:rPr>
              <a:t>logback · the Spring context · beans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4263390"/>
            <a:ext cx="3302000" cy="9525"/>
          </a:xfrm>
          <a:prstGeom prst="rect">
            <a:avLst/>
          </a:prstGeom>
          <a:solidFill>
            <a:srgbClr val="314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4472940"/>
            <a:ext cx="10566400" cy="349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7F5F0"/>
                </a:solidFill>
                <a:latin typeface="Space Grotesk"/>
              </a:rPr>
              <a:t>Eng. Mohamed Shehab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4999990"/>
            <a:ext cx="10566400" cy="273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094B4"/>
                </a:solidFill>
                <a:latin typeface="IBM Plex Sans"/>
              </a:rPr>
              <a:t>Faculty of Computers and Information, Menoufia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Where we stopped last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281430"/>
            <a:ext cx="10566400" cy="528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7F5F0"/>
                </a:solidFill>
                <a:latin typeface="Space Grotesk"/>
              </a:rPr>
              <a:t>You pick the level. A file picks the threshold.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2038350"/>
          <a:ext cx="10566400" cy="1771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83200"/>
                <a:gridCol w="5283200"/>
              </a:tblGrid>
              <a:tr h="442912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D4AF52"/>
                          </a:solidFill>
                          <a:latin typeface="IBM Plex Sans"/>
                        </a:rPr>
                        <a:t>In your code</a:t>
                      </a:r>
                    </a:p>
                  </a:txBody>
                  <a:tcPr marL="127000" marR="127000" marT="114300" marB="11430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D4AF52"/>
                          </a:solidFill>
                          <a:latin typeface="IBM Plex Sans"/>
                        </a:rPr>
                        <a:t>In logback.xml</a:t>
                      </a:r>
                    </a:p>
                  </a:txBody>
                  <a:tcPr marL="127000" marR="127000" marT="114300" marB="114300" anchor="t">
                    <a:noFill/>
                  </a:tcPr>
                </a:tc>
              </a:tr>
              <a:tr h="442912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AAB7CC"/>
                          </a:solidFill>
                          <a:latin typeface="JetBrains Mono"/>
                        </a:rPr>
                        <a:t>log.debug("...")</a:t>
                      </a:r>
                    </a:p>
                  </a:txBody>
                  <a:tcPr marL="127000" marR="127000" marT="114300" marB="114300" anchor="t">
                    <a:solidFill>
                      <a:srgbClr val="1D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AAB7CC"/>
                          </a:solidFill>
                          <a:latin typeface="JetBrains Mono"/>
                        </a:rPr>
                        <a:t>&lt;root level="INFO"&gt;</a:t>
                      </a:r>
                    </a:p>
                  </a:txBody>
                  <a:tcPr marL="127000" marR="127000" marT="114300" marB="114300" anchor="t">
                    <a:solidFill>
                      <a:srgbClr val="1D3153"/>
                    </a:solidFill>
                  </a:tcPr>
                </a:tc>
              </a:tr>
              <a:tr h="442912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AAB7CC"/>
                          </a:solidFill>
                          <a:latin typeface="IBM Plex Sans"/>
                        </a:rPr>
                        <a:t>You choose a level for every single line, while you write it.</a:t>
                      </a:r>
                    </a:p>
                  </a:txBody>
                  <a:tcPr marL="127000" marR="127000" marT="114300" marB="11430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AAB7CC"/>
                          </a:solidFill>
                          <a:latin typeface="IBM Plex Sans"/>
                        </a:rPr>
                        <a:t>You choose one threshold for the whole application, at run time.</a:t>
                      </a:r>
                    </a:p>
                  </a:txBody>
                  <a:tcPr marL="127000" marR="127000" marT="114300" marB="114300" anchor="t">
                    <a:noFill/>
                  </a:tcPr>
                </a:tc>
              </a:tr>
              <a:tr h="442912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AAB7CC"/>
                          </a:solidFill>
                          <a:latin typeface="IBM Plex Sans"/>
                        </a:rPr>
                        <a:t>Changing it means editing code, building, and deploying.</a:t>
                      </a:r>
                    </a:p>
                  </a:txBody>
                  <a:tcPr marL="127000" marR="127000" marT="114300" marB="114300" anchor="t">
                    <a:solidFill>
                      <a:srgbClr val="1D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AAB7CC"/>
                          </a:solidFill>
                          <a:latin typeface="IBM Plex Sans"/>
                        </a:rPr>
                        <a:t>Changing it means editing a file and restarting. No build.</a:t>
                      </a:r>
                    </a:p>
                  </a:txBody>
                  <a:tcPr marL="127000" marR="127000" marT="114300" marB="114300" anchor="t">
                    <a:solidFill>
                      <a:srgbClr val="1D315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800" y="4064000"/>
            <a:ext cx="105664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5F0"/>
                </a:solidFill>
                <a:latin typeface="IBM Plex Sans"/>
              </a:rPr>
              <a:t>Today we finish the job: how to write the line itself, and where to put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The one habit worth building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281430"/>
            <a:ext cx="10566400" cy="528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7F5F0"/>
                </a:solidFill>
                <a:latin typeface="Space Grotesk"/>
              </a:rPr>
              <a:t>Braces, not plus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038350"/>
            <a:ext cx="5194300" cy="1597025"/>
          </a:xfrm>
          <a:prstGeom prst="roundRect">
            <a:avLst>
              <a:gd name="adj" fmla="val 6361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1400" y="2266950"/>
            <a:ext cx="4737100" cy="263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FBFA6"/>
                </a:solidFill>
                <a:latin typeface="Space Grotesk"/>
              </a:rPr>
              <a:t>Do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1400" y="2593975"/>
            <a:ext cx="4737100" cy="501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7F5F0"/>
                </a:solidFill>
                <a:latin typeface="JetBrains Mono"/>
              </a:rPr>
              <a:t>log.debug("{} seats left for {}",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7F5F0"/>
                </a:solidFill>
                <a:latin typeface="JetBrains Mono"/>
              </a:rPr>
              <a:t> available, event);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1400" y="3159125"/>
            <a:ext cx="4737100" cy="273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AB7CC"/>
                </a:solidFill>
                <a:latin typeface="IBM Plex Sans"/>
              </a:rPr>
              <a:t>The string is built inside the library, and only if the level is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4900" y="2038350"/>
            <a:ext cx="5194300" cy="1844675"/>
          </a:xfrm>
          <a:prstGeom prst="roundRect">
            <a:avLst>
              <a:gd name="adj" fmla="val 5507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13500" y="2266950"/>
            <a:ext cx="4737100" cy="263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2705A"/>
                </a:solidFill>
                <a:latin typeface="Space Grotesk"/>
              </a:rPr>
              <a:t>Not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3500" y="2593975"/>
            <a:ext cx="4737100" cy="501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705A"/>
                </a:solidFill>
                <a:latin typeface="JetBrains Mono"/>
              </a:rPr>
              <a:t>log.debug(available +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705A"/>
                </a:solidFill>
                <a:latin typeface="JetBrains Mono"/>
              </a:rPr>
              <a:t> " seats left for " + event);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3500" y="3159125"/>
            <a:ext cx="4737100" cy="520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AB7CC"/>
                </a:solidFill>
                <a:latin typeface="IBM Plex Sans"/>
              </a:rPr>
              <a:t>Java builds the string first, then hands it to a method that may throw it away.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4137025"/>
            <a:ext cx="105664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5F0"/>
                </a:solidFill>
                <a:latin typeface="IBM Plex Sans"/>
              </a:rPr>
              <a:t>With DEBUG off and a million rows: zero strings built, or a million built and binned.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Two mistakes that cost you hours later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281430"/>
            <a:ext cx="10566400" cy="528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7F5F0"/>
                </a:solidFill>
                <a:latin typeface="Space Grotesk"/>
              </a:rPr>
              <a:t>Logging a failure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038350"/>
            <a:ext cx="10566400" cy="723900"/>
          </a:xfrm>
          <a:prstGeom prst="roundRect">
            <a:avLst>
              <a:gd name="adj" fmla="val 14035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1400" y="2266950"/>
            <a:ext cx="101092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5F0"/>
                </a:solidFill>
                <a:latin typeface="JetBrains Mono"/>
              </a:rPr>
              <a:t>log.error("could not send confirmation for {}", event, e);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12800" y="3016250"/>
          <a:ext cx="10566400" cy="1536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60544"/>
                <a:gridCol w="5705856"/>
              </a:tblGrid>
              <a:tr h="384175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D4AF52"/>
                          </a:solidFill>
                          <a:latin typeface="IBM Plex Sans"/>
                        </a:rPr>
                        <a:t>The rule</a:t>
                      </a:r>
                    </a:p>
                  </a:txBody>
                  <a:tcPr marL="127000" marR="127000" marT="88900" marB="8890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D4AF52"/>
                          </a:solidFill>
                          <a:latin typeface="IBM Plex Sans"/>
                        </a:rPr>
                        <a:t>Why</a:t>
                      </a:r>
                    </a:p>
                  </a:txBody>
                  <a:tcPr marL="127000" marR="127000" marT="88900" marB="88900" anchor="t">
                    <a:noFill/>
                  </a:tcPr>
                </a:tc>
              </a:tr>
              <a:tr h="384175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AAB7CC"/>
                          </a:solidFill>
                          <a:latin typeface="IBM Plex Sans"/>
                        </a:rPr>
                        <a:t>The exception goes last, with no brace of its own</a:t>
                      </a:r>
                    </a:p>
                  </a:txBody>
                  <a:tcPr marL="127000" marR="127000" marT="88900" marB="88900" anchor="t">
                    <a:solidFill>
                      <a:srgbClr val="1D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AAB7CC"/>
                          </a:solidFill>
                          <a:latin typeface="IBM Plex Sans"/>
                        </a:rPr>
                        <a:t>SLF4J works that out by itself and prints the whole stack trace</a:t>
                      </a:r>
                    </a:p>
                  </a:txBody>
                  <a:tcPr marL="127000" marR="127000" marT="88900" marB="88900" anchor="t">
                    <a:solidFill>
                      <a:srgbClr val="1D3153"/>
                    </a:solidFill>
                  </a:tcPr>
                </a:tc>
              </a:tr>
              <a:tr h="384175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AAB7CC"/>
                          </a:solidFill>
                          <a:latin typeface="IBM Plex Sans"/>
                        </a:rPr>
                        <a:t>Never </a:t>
                      </a:r>
                      <a:r>
                        <a:rPr sz="1300" b="0" i="0">
                          <a:solidFill>
                            <a:srgbClr val="AAB7CC"/>
                          </a:solidFill>
                          <a:latin typeface="JetBrains Mono"/>
                        </a:rPr>
                        <a:t>e.getMessage()</a:t>
                      </a:r>
                      <a:r>
                        <a:rPr sz="1300" b="0" i="0">
                          <a:solidFill>
                            <a:srgbClr val="AAB7CC"/>
                          </a:solidFill>
                          <a:latin typeface="IBM Plex Sans"/>
                        </a:rPr>
                        <a:t> on its own</a:t>
                      </a:r>
                    </a:p>
                  </a:txBody>
                  <a:tcPr marL="127000" marR="127000" marT="88900" marB="8890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AAB7CC"/>
                          </a:solidFill>
                          <a:latin typeface="IBM Plex Sans"/>
                        </a:rPr>
                        <a:t>You learn that something failed, never which file and which line</a:t>
                      </a:r>
                    </a:p>
                  </a:txBody>
                  <a:tcPr marL="127000" marR="127000" marT="88900" marB="88900" anchor="t">
                    <a:noFill/>
                  </a:tcPr>
                </a:tc>
              </a:tr>
              <a:tr h="384175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AAB7CC"/>
                          </a:solidFill>
                          <a:latin typeface="IBM Plex Sans"/>
                        </a:rPr>
                        <a:t>A refused request is </a:t>
                      </a:r>
                      <a:r>
                        <a:rPr sz="1300" b="0" i="0">
                          <a:solidFill>
                            <a:srgbClr val="AAB7CC"/>
                          </a:solidFill>
                          <a:latin typeface="JetBrains Mono"/>
                        </a:rPr>
                        <a:t>warn</a:t>
                      </a:r>
                      <a:r>
                        <a:rPr sz="1300" b="0" i="0">
                          <a:solidFill>
                            <a:srgbClr val="AAB7CC"/>
                          </a:solidFill>
                          <a:latin typeface="IBM Plex Sans"/>
                        </a:rPr>
                        <a:t>, not </a:t>
                      </a:r>
                      <a:r>
                        <a:rPr sz="1300" b="0" i="0">
                          <a:solidFill>
                            <a:srgbClr val="AAB7CC"/>
                          </a:solidFill>
                          <a:latin typeface="JetBrains Mono"/>
                        </a:rPr>
                        <a:t>error</a:t>
                      </a:r>
                    </a:p>
                  </a:txBody>
                  <a:tcPr marL="127000" marR="127000" marT="88900" marB="88900" anchor="t">
                    <a:solidFill>
                      <a:srgbClr val="1D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AAB7CC"/>
                          </a:solidFill>
                          <a:latin typeface="IBM Plex Sans"/>
                        </a:rPr>
                        <a:t>If everything is an error, a real error stops meaning anything</a:t>
                      </a:r>
                    </a:p>
                  </a:txBody>
                  <a:tcPr marL="127000" marR="127000" marT="88900" marB="88900" anchor="t">
                    <a:solidFill>
                      <a:srgbClr val="1D315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In a real project you never open DEBUG on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217930"/>
            <a:ext cx="10566400" cy="528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7F5F0"/>
                </a:solidFill>
                <a:latin typeface="Space Grotesk"/>
              </a:rPr>
              <a:t>Turn it up for your code 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911350"/>
            <a:ext cx="10566400" cy="990600"/>
          </a:xfrm>
          <a:prstGeom prst="roundRect">
            <a:avLst>
              <a:gd name="adj" fmla="val 10256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1400" y="2139950"/>
            <a:ext cx="10109200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5F0"/>
                </a:solidFill>
                <a:latin typeface="JetBrains Mono"/>
              </a:rPr>
              <a:t>&lt;logger name="org.example" level="DEBUG"/&gt;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5F0"/>
                </a:solidFill>
                <a:latin typeface="JetBrains Mono"/>
              </a:rPr>
              <a:t>&lt;root level="WARN"/&gt;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3092450"/>
            <a:ext cx="105664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5F0"/>
                </a:solidFill>
                <a:latin typeface="IBM Plex Sans"/>
              </a:rPr>
              <a:t>Your classes talk. Hibernate, Tomcat and Spring stay quiet.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12800" y="3587750"/>
          <a:ext cx="10566400" cy="1536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1952"/>
                <a:gridCol w="8664448"/>
              </a:tblGrid>
              <a:tr h="384175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D4AF52"/>
                          </a:solidFill>
                          <a:latin typeface="IBM Plex Sans"/>
                        </a:rPr>
                        <a:t>Level</a:t>
                      </a:r>
                    </a:p>
                  </a:txBody>
                  <a:tcPr marL="127000" marR="127000" marT="88900" marB="8890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D4AF52"/>
                          </a:solidFill>
                          <a:latin typeface="IBM Plex Sans"/>
                        </a:rPr>
                        <a:t>Put one here</a:t>
                      </a:r>
                    </a:p>
                  </a:txBody>
                  <a:tcPr marL="127000" marR="127000" marT="88900" marB="88900" anchor="t">
                    <a:noFill/>
                  </a:tcPr>
                </a:tc>
              </a:tr>
              <a:tr h="384175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AAB7CC"/>
                          </a:solidFill>
                          <a:latin typeface="IBM Plex Sans"/>
                        </a:rPr>
                        <a:t>info</a:t>
                      </a:r>
                    </a:p>
                  </a:txBody>
                  <a:tcPr marL="127000" marR="127000" marT="88900" marB="88900" anchor="t">
                    <a:solidFill>
                      <a:srgbClr val="1D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AAB7CC"/>
                          </a:solidFill>
                          <a:latin typeface="IBM Plex Sans"/>
                        </a:rPr>
                        <a:t>A booking went through. A job started. Something a human may ask about later.</a:t>
                      </a:r>
                    </a:p>
                  </a:txBody>
                  <a:tcPr marL="127000" marR="127000" marT="88900" marB="88900" anchor="t">
                    <a:solidFill>
                      <a:srgbClr val="1D3153"/>
                    </a:solidFill>
                  </a:tcPr>
                </a:tc>
              </a:tr>
              <a:tr h="384175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AAB7CC"/>
                          </a:solidFill>
                          <a:latin typeface="IBM Plex Sans"/>
                        </a:rPr>
                        <a:t>warn</a:t>
                      </a:r>
                    </a:p>
                  </a:txBody>
                  <a:tcPr marL="127000" marR="127000" marT="88900" marB="8890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AAB7CC"/>
                          </a:solidFill>
                          <a:latin typeface="IBM Plex Sans"/>
                        </a:rPr>
                        <a:t>A retry, a cache miss, a fallback. It worked, but not the way you planned.</a:t>
                      </a:r>
                    </a:p>
                  </a:txBody>
                  <a:tcPr marL="127000" marR="127000" marT="88900" marB="88900" anchor="t">
                    <a:noFill/>
                  </a:tcPr>
                </a:tc>
              </a:tr>
              <a:tr h="384175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AAB7CC"/>
                          </a:solidFill>
                          <a:latin typeface="IBM Plex Sans"/>
                        </a:rPr>
                        <a:t>error</a:t>
                      </a:r>
                    </a:p>
                  </a:txBody>
                  <a:tcPr marL="127000" marR="127000" marT="88900" marB="88900" anchor="t">
                    <a:solidFill>
                      <a:srgbClr val="1D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AAB7CC"/>
                          </a:solidFill>
                          <a:latin typeface="IBM Plex Sans"/>
                        </a:rPr>
                        <a:t>This request died. Always with the exception attached.</a:t>
                      </a:r>
                    </a:p>
                  </a:txBody>
                  <a:tcPr marL="127000" marR="127000" marT="88900" marB="88900" anchor="t">
                    <a:solidFill>
                      <a:srgbClr val="1D315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The line you just typed, and one word that writes it for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92530"/>
            <a:ext cx="10566400" cy="4305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7F5F0"/>
                </a:solidFill>
                <a:latin typeface="Space Grotesk"/>
              </a:rPr>
              <a:t>An annotation is a note stuck on your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762760"/>
            <a:ext cx="5200650" cy="1056005"/>
          </a:xfrm>
          <a:prstGeom prst="roundRect">
            <a:avLst>
              <a:gd name="adj" fmla="val 9621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0600" y="1940560"/>
            <a:ext cx="4845050" cy="2152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AF52"/>
                </a:solidFill>
                <a:latin typeface="Space Grotesk"/>
              </a:rPr>
              <a:t>You wrote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2193925"/>
            <a:ext cx="4845050" cy="472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7F5F0"/>
                </a:solidFill>
                <a:latin typeface="JetBrains Mono"/>
              </a:rPr>
              <a:t>private static final Logger log =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7F5F0"/>
                </a:solidFill>
                <a:latin typeface="JetBrains Mono"/>
              </a:rPr>
              <a:t> LoggerFactory.getLogger(Main.class);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8550" y="1762760"/>
            <a:ext cx="5200650" cy="1056005"/>
          </a:xfrm>
          <a:prstGeom prst="roundRect">
            <a:avLst>
              <a:gd name="adj" fmla="val 9621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56350" y="1940560"/>
            <a:ext cx="4845050" cy="2152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AF52"/>
                </a:solidFill>
                <a:latin typeface="Space Grotesk"/>
              </a:rPr>
              <a:t>Delete it, write this instead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6350" y="2193925"/>
            <a:ext cx="4845050" cy="472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FBFA6"/>
                </a:solidFill>
                <a:latin typeface="JetBrains Mono"/>
              </a:rPr>
              <a:t>@Slf4j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7F5F0"/>
                </a:solidFill>
                <a:latin typeface="JetBrains Mono"/>
              </a:rPr>
              <a:t>public class Main { ...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" y="2983865"/>
            <a:ext cx="10566400" cy="1212850"/>
          </a:xfrm>
          <a:prstGeom prst="roundRect">
            <a:avLst>
              <a:gd name="adj" fmla="val 8376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03300" y="3148965"/>
            <a:ext cx="10185400" cy="2070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4AF52"/>
                </a:solidFill>
                <a:latin typeface="Space Grotesk"/>
              </a:rPr>
              <a:t>javap -p target/classes/org/example/Main.class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3300" y="3330575"/>
            <a:ext cx="10185400" cy="726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public class org.example.Main {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150" b="0" i="0">
                <a:solidFill>
                  <a:srgbClr val="5FBFA6"/>
                </a:solidFill>
                <a:latin typeface="JetBrains Mono"/>
              </a:rPr>
              <a:t>private static final org.slf4j.Logger log; ← still there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4361815"/>
            <a:ext cx="10566400" cy="301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7F5F0"/>
                </a:solidFill>
                <a:latin typeface="IBM Plex Sans"/>
              </a:rPr>
              <a:t>Gone from your file, present in the compiled one. Something read the word and wrote the 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803140"/>
            <a:ext cx="2546350" cy="670242"/>
          </a:xfrm>
          <a:prstGeom prst="roundRect">
            <a:avLst>
              <a:gd name="adj" fmla="val 13263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2500" y="4930140"/>
            <a:ext cx="2266950" cy="2079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@Override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5150803"/>
            <a:ext cx="226695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AB7CC"/>
                </a:solidFill>
                <a:latin typeface="IBM Plex Sans"/>
              </a:rPr>
              <a:t>the compiler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86150" y="4803140"/>
            <a:ext cx="2546350" cy="670242"/>
          </a:xfrm>
          <a:prstGeom prst="roundRect">
            <a:avLst>
              <a:gd name="adj" fmla="val 13263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625850" y="4930140"/>
            <a:ext cx="2266950" cy="2079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@Test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5850" y="5150803"/>
            <a:ext cx="226695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AB7CC"/>
                </a:solidFill>
                <a:latin typeface="IBM Plex Sans"/>
              </a:rPr>
              <a:t>JUnit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500" y="4803140"/>
            <a:ext cx="2546350" cy="670242"/>
          </a:xfrm>
          <a:prstGeom prst="roundRect">
            <a:avLst>
              <a:gd name="adj" fmla="val 13263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99200" y="4930140"/>
            <a:ext cx="2266950" cy="2079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@Entity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5150803"/>
            <a:ext cx="226695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AB7CC"/>
                </a:solidFill>
                <a:latin typeface="IBM Plex Sans"/>
              </a:rPr>
              <a:t>Hibernate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32850" y="4803140"/>
            <a:ext cx="2546350" cy="670242"/>
          </a:xfrm>
          <a:prstGeom prst="roundRect">
            <a:avLst>
              <a:gd name="adj" fmla="val 13263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972550" y="4930140"/>
            <a:ext cx="2266950" cy="2079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@Component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2550" y="5150803"/>
            <a:ext cx="226695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AB7CC"/>
                </a:solidFill>
                <a:latin typeface="IBM Plex Sans"/>
              </a:rPr>
              <a:t>Spring, in a moment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One word wrote one line. Here is one that writes ten methods.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67130"/>
            <a:ext cx="10566400" cy="4025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7F5F0"/>
                </a:solidFill>
                <a:latin typeface="Space Grotesk"/>
              </a:rPr>
              <a:t>Same idea, bigger payoff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684020"/>
            <a:ext cx="10566400" cy="838200"/>
          </a:xfrm>
          <a:prstGeom prst="roundRect">
            <a:avLst>
              <a:gd name="adj" fmla="val 12121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77900" y="1849120"/>
            <a:ext cx="102362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4AF52"/>
                </a:solidFill>
                <a:latin typeface="JetBrains Mono"/>
              </a:rPr>
              <a:t>@Data</a:t>
            </a:r>
            <a:r>
              <a:rPr sz="125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250" b="0" i="0">
                <a:solidFill>
                  <a:srgbClr val="8FA8CC"/>
                </a:solidFill>
                <a:latin typeface="JetBrains Mono"/>
              </a:rPr>
              <a:t>// three fields, zero methods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FBFA6"/>
                </a:solidFill>
                <a:latin typeface="JetBrains Mono"/>
              </a:rPr>
              <a:t>public class</a:t>
            </a:r>
            <a:r>
              <a:rPr sz="1250" b="0" i="0">
                <a:solidFill>
                  <a:srgbClr val="F7F5F0"/>
                </a:solidFill>
                <a:latin typeface="JetBrains Mono"/>
              </a:rPr>
              <a:t> Booking { ... 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2661920"/>
            <a:ext cx="5226050" cy="757555"/>
          </a:xfrm>
          <a:prstGeom prst="roundRect">
            <a:avLst>
              <a:gd name="adj" fmla="val 11735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52500" y="2801620"/>
            <a:ext cx="4946650" cy="2317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4AF52"/>
                </a:solidFill>
                <a:latin typeface="JetBrains Mono"/>
              </a:rPr>
              <a:t>@Getter @Setter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058795"/>
            <a:ext cx="4946650" cy="246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AB7CC"/>
                </a:solidFill>
                <a:latin typeface="IBM Plex Sans"/>
              </a:rPr>
              <a:t>six methods appear: three getters, three setters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150" y="2661920"/>
            <a:ext cx="5226050" cy="757555"/>
          </a:xfrm>
          <a:prstGeom prst="roundRect">
            <a:avLst>
              <a:gd name="adj" fmla="val 11735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92850" y="2801620"/>
            <a:ext cx="4946650" cy="2317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4AF52"/>
                </a:solidFill>
                <a:latin typeface="JetBrains Mono"/>
              </a:rPr>
              <a:t>@Data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2850" y="3058795"/>
            <a:ext cx="4946650" cy="246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AB7CC"/>
                </a:solidFill>
                <a:latin typeface="IBM Plex Sans"/>
              </a:rPr>
              <a:t>those six, plus toString, equals, hashCode and canEqual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3559175"/>
            <a:ext cx="10566400" cy="1698625"/>
          </a:xfrm>
          <a:prstGeom prst="roundRect">
            <a:avLst>
              <a:gd name="adj" fmla="val 5981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41400" y="3787775"/>
            <a:ext cx="10109200" cy="1266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FA8CC"/>
                </a:solidFill>
                <a:latin typeface="JetBrains Mono"/>
              </a:rPr>
              <a:t>// with @Getter @Setter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the booking: </a:t>
            </a:r>
            <a:r>
              <a:rPr sz="1150" b="0" i="0">
                <a:solidFill>
                  <a:srgbClr val="E2705A"/>
                </a:solidFill>
                <a:latin typeface="JetBrains Mono"/>
              </a:rPr>
              <a:t>org.example.Booking@45e5696d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 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FA8CC"/>
                </a:solidFill>
                <a:latin typeface="JetBrains Mono"/>
              </a:rPr>
              <a:t>// with @Data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the booking: </a:t>
            </a:r>
            <a:r>
              <a:rPr sz="1150" b="0" i="0">
                <a:solidFill>
                  <a:srgbClr val="5FBFA6"/>
                </a:solidFill>
                <a:latin typeface="JetBrains Mono"/>
              </a:rPr>
              <a:t>Booking(user=ahmed@example.com, eventTitle=Spring Boot Workshop, seats=5)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Chapter 1 · before any Spring code, why a framework exists at 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79830"/>
            <a:ext cx="10566400" cy="3886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7F5F0"/>
                </a:solidFill>
                <a:latin typeface="Space Grotesk"/>
              </a:rPr>
              <a:t>The part nobody sees is the bigger part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695450"/>
            <a:ext cx="10566400" cy="3098800"/>
          </a:xfrm>
          <a:prstGeom prst="roundRect">
            <a:avLst>
              <a:gd name="adj" fmla="val 3278"/>
            </a:avLst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ig1-2-iceber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1847850"/>
            <a:ext cx="5207000" cy="279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2800" y="485775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figure 1.2 · Spring Start Here, Laurentiu Spilca, Manning Publications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5200650"/>
            <a:ext cx="10566400" cy="311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5F0"/>
                </a:solidFill>
                <a:latin typeface="IBM Plex Sans"/>
              </a:rPr>
              <a:t>You spent the last hour on one item under the water. Every app needs all of them, and none of them is your 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Chapter 1 · and this is why nobody knows all of Spring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67130"/>
            <a:ext cx="10566400" cy="360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7F5F0"/>
                </a:solidFill>
                <a:latin typeface="Space Grotesk"/>
              </a:rPr>
              <a:t>Spring is not a framework. It is an ecosystem of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642110"/>
            <a:ext cx="10566400" cy="1587500"/>
          </a:xfrm>
          <a:prstGeom prst="roundRect">
            <a:avLst>
              <a:gd name="adj" fmla="val 6400"/>
            </a:avLst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ig1-3-solar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700" y="1731010"/>
            <a:ext cx="2921000" cy="1409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2800" y="329311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figure 1.3 · Spring Start Here, Laurentiu Spilca, Manning Publications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12800" y="3623310"/>
          <a:ext cx="10566400" cy="21050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83200"/>
                <a:gridCol w="5283200"/>
              </a:tblGrid>
              <a:tr h="35083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D4AF52"/>
                          </a:solidFill>
                          <a:latin typeface="IBM Plex Sans"/>
                        </a:rPr>
                        <a:t>Inside the Spring framework</a:t>
                      </a:r>
                    </a:p>
                  </a:txBody>
                  <a:tcPr marL="139700" marR="139700" marT="76200" marB="7620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D4AF52"/>
                          </a:solidFill>
                          <a:latin typeface="IBM Plex Sans"/>
                        </a:rPr>
                        <a:t>What it is for</a:t>
                      </a:r>
                    </a:p>
                  </a:txBody>
                  <a:tcPr marL="139700" marR="139700" marT="76200" marB="76200" anchor="t">
                    <a:noFill/>
                  </a:tcPr>
                </a:tc>
              </a:tr>
              <a:tr h="35083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JetBrains Mono"/>
                        </a:rPr>
                        <a:t>Spring Core</a:t>
                      </a:r>
                    </a:p>
                  </a:txBody>
                  <a:tcPr marL="139700" marR="139700" marT="76200" marB="76200" anchor="t">
                    <a:solidFill>
                      <a:srgbClr val="1D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the context, aspects, the foundations. </a:t>
                      </a:r>
                      <a:r>
                        <a:rPr sz="1250" b="0" i="0">
                          <a:solidFill>
                            <a:srgbClr val="5FBFA6"/>
                          </a:solidFill>
                          <a:latin typeface="IBM Plex Sans"/>
                        </a:rPr>
                        <a:t>today</a:t>
                      </a:r>
                    </a:p>
                  </a:txBody>
                  <a:tcPr marL="139700" marR="139700" marT="76200" marB="76200" anchor="t">
                    <a:solidFill>
                      <a:srgbClr val="1D3153"/>
                    </a:solidFill>
                  </a:tcPr>
                </a:tc>
              </a:tr>
              <a:tr h="35083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JetBrains Mono"/>
                        </a:rPr>
                        <a:t>Spring MVC</a:t>
                      </a:r>
                    </a:p>
                  </a:txBody>
                  <a:tcPr marL="139700" marR="139700" marT="76200" marB="7620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web apps that answer HTTP</a:t>
                      </a:r>
                    </a:p>
                  </a:txBody>
                  <a:tcPr marL="139700" marR="139700" marT="76200" marB="76200" anchor="t">
                    <a:noFill/>
                  </a:tcPr>
                </a:tc>
              </a:tr>
              <a:tr h="35083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JetBrains Mono"/>
                        </a:rPr>
                        <a:t>Spring Data Access</a:t>
                      </a:r>
                    </a:p>
                  </a:txBody>
                  <a:tcPr marL="139700" marR="139700" marT="76200" marB="76200" anchor="t">
                    <a:solidFill>
                      <a:srgbClr val="1D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JDBC, ORM, transactions</a:t>
                      </a:r>
                    </a:p>
                  </a:txBody>
                  <a:tcPr marL="139700" marR="139700" marT="76200" marB="76200" anchor="t">
                    <a:solidFill>
                      <a:srgbClr val="1D3153"/>
                    </a:solidFill>
                  </a:tcPr>
                </a:tc>
              </a:tr>
              <a:tr h="35083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JetBrains Mono"/>
                        </a:rPr>
                        <a:t>Spring testing</a:t>
                      </a:r>
                    </a:p>
                  </a:txBody>
                  <a:tcPr marL="139700" marR="139700" marT="76200" marB="7620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tools for writing tests</a:t>
                      </a:r>
                    </a:p>
                  </a:txBody>
                  <a:tcPr marL="139700" marR="139700" marT="76200" marB="76200" anchor="t">
                    <a:noFill/>
                  </a:tcPr>
                </a:tc>
              </a:tr>
              <a:tr h="35083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and whole projects around it</a:t>
                      </a:r>
                    </a:p>
                  </a:txBody>
                  <a:tcPr marL="139700" marR="139700" marT="76200" marB="76200" anchor="t">
                    <a:solidFill>
                      <a:srgbClr val="1D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Spring Boot, Spring Security, Spring Cloud, Spring Batch, and more</a:t>
                      </a:r>
                    </a:p>
                  </a:txBody>
                  <a:tcPr marL="139700" marR="139700" marT="76200" marB="76200" anchor="t">
                    <a:solidFill>
                      <a:srgbClr val="1D315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Out of all of that, here is our term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205230"/>
            <a:ext cx="10566400" cy="486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7F5F0"/>
                </a:solidFill>
                <a:latin typeface="Space Grotesk"/>
              </a:rPr>
              <a:t>Where this section sits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1844040"/>
          <a:ext cx="10566399" cy="28067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2133"/>
                <a:gridCol w="3522133"/>
                <a:gridCol w="3522133"/>
              </a:tblGrid>
              <a:tr h="35083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D4AF52"/>
                          </a:solidFill>
                          <a:latin typeface="IBM Plex Sans"/>
                        </a:rPr>
                        <a:t>The piece</a:t>
                      </a:r>
                    </a:p>
                  </a:txBody>
                  <a:tcPr marL="139700" marR="139700" marT="76200" marB="7620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D4AF52"/>
                          </a:solidFill>
                          <a:latin typeface="IBM Plex Sans"/>
                        </a:rPr>
                        <a:t>Where it shows up</a:t>
                      </a:r>
                    </a:p>
                  </a:txBody>
                  <a:tcPr marL="139700" marR="139700" marT="76200" marB="7620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D4AF52"/>
                          </a:solidFill>
                          <a:latin typeface="IBM Plex Sans"/>
                        </a:rPr>
                        <a:t>Week</a:t>
                      </a:r>
                    </a:p>
                  </a:txBody>
                  <a:tcPr marL="139700" marR="139700" marT="76200" marB="76200" anchor="t">
                    <a:noFill/>
                  </a:tcPr>
                </a:tc>
              </a:tr>
              <a:tr h="35083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JetBrains Mono"/>
                        </a:rPr>
                        <a:t>Spring Core</a:t>
                      </a: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 · the context</a:t>
                      </a:r>
                    </a:p>
                  </a:txBody>
                  <a:tcPr marL="139700" marR="139700" marT="76200" marB="76200" anchor="t">
                    <a:solidFill>
                      <a:srgbClr val="1D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beans, wiring, scopes, the container</a:t>
                      </a:r>
                    </a:p>
                  </a:txBody>
                  <a:tcPr marL="139700" marR="139700" marT="76200" marB="76200" anchor="t">
                    <a:solidFill>
                      <a:srgbClr val="1D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5FBFA6"/>
                          </a:solidFill>
                          <a:latin typeface="IBM Plex Sans"/>
                        </a:rPr>
                        <a:t>2 and 3</a:t>
                      </a: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 · here</a:t>
                      </a:r>
                    </a:p>
                  </a:txBody>
                  <a:tcPr marL="139700" marR="139700" marT="76200" marB="76200" anchor="t">
                    <a:solidFill>
                      <a:srgbClr val="1D3153"/>
                    </a:solidFill>
                  </a:tcPr>
                </a:tc>
              </a:tr>
              <a:tr h="35083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JetBrains Mono"/>
                        </a:rPr>
                        <a:t>Spring Boot</a:t>
                      </a:r>
                    </a:p>
                  </a:txBody>
                  <a:tcPr marL="139700" marR="139700" marT="76200" marB="7620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convention over configuration</a:t>
                      </a:r>
                    </a:p>
                  </a:txBody>
                  <a:tcPr marL="139700" marR="139700" marT="76200" marB="7620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4</a:t>
                      </a:r>
                    </a:p>
                  </a:txBody>
                  <a:tcPr marL="139700" marR="139700" marT="76200" marB="76200" anchor="t">
                    <a:noFill/>
                  </a:tcPr>
                </a:tc>
              </a:tr>
              <a:tr h="35083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JetBrains Mono"/>
                        </a:rPr>
                        <a:t>Spring MVC</a:t>
                      </a:r>
                    </a:p>
                  </a:txBody>
                  <a:tcPr marL="139700" marR="139700" marT="76200" marB="76200" anchor="t">
                    <a:solidFill>
                      <a:srgbClr val="1D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REST controllers, validation, layers</a:t>
                      </a:r>
                    </a:p>
                  </a:txBody>
                  <a:tcPr marL="139700" marR="139700" marT="76200" marB="76200" anchor="t">
                    <a:solidFill>
                      <a:srgbClr val="1D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5 and 6</a:t>
                      </a:r>
                    </a:p>
                  </a:txBody>
                  <a:tcPr marL="139700" marR="139700" marT="76200" marB="76200" anchor="t">
                    <a:solidFill>
                      <a:srgbClr val="1D3153"/>
                    </a:solidFill>
                  </a:tcPr>
                </a:tc>
              </a:tr>
              <a:tr h="35083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JetBrains Mono"/>
                        </a:rPr>
                        <a:t>Spring Data</a:t>
                      </a:r>
                    </a:p>
                  </a:txBody>
                  <a:tcPr marL="139700" marR="139700" marT="76200" marB="7620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JPA, relations, transactions, queries</a:t>
                      </a:r>
                    </a:p>
                  </a:txBody>
                  <a:tcPr marL="139700" marR="139700" marT="76200" marB="7620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7 to 9</a:t>
                      </a:r>
                    </a:p>
                  </a:txBody>
                  <a:tcPr marL="139700" marR="139700" marT="76200" marB="76200" anchor="t">
                    <a:noFill/>
                  </a:tcPr>
                </a:tc>
              </a:tr>
              <a:tr h="35083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the wider ecosystem</a:t>
                      </a:r>
                    </a:p>
                  </a:txBody>
                  <a:tcPr marL="139700" marR="139700" marT="76200" marB="76200" anchor="t">
                    <a:solidFill>
                      <a:srgbClr val="1D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Redis, then RabbitMQ</a:t>
                      </a:r>
                    </a:p>
                  </a:txBody>
                  <a:tcPr marL="139700" marR="139700" marT="76200" marB="76200" anchor="t">
                    <a:solidFill>
                      <a:srgbClr val="1D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10 and 11</a:t>
                      </a:r>
                    </a:p>
                  </a:txBody>
                  <a:tcPr marL="139700" marR="139700" marT="76200" marB="76200" anchor="t">
                    <a:solidFill>
                      <a:srgbClr val="1D3153"/>
                    </a:solidFill>
                  </a:tcPr>
                </a:tc>
              </a:tr>
              <a:tr h="35083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JetBrains Mono"/>
                        </a:rPr>
                        <a:t>Spring testing</a:t>
                      </a:r>
                    </a:p>
                  </a:txBody>
                  <a:tcPr marL="139700" marR="139700" marT="76200" marB="7620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tests, and Docker alongside them</a:t>
                      </a:r>
                    </a:p>
                  </a:txBody>
                  <a:tcPr marL="139700" marR="139700" marT="76200" marB="7620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12</a:t>
                      </a:r>
                    </a:p>
                  </a:txBody>
                  <a:tcPr marL="139700" marR="139700" marT="76200" marB="76200" anchor="t">
                    <a:noFill/>
                  </a:tcPr>
                </a:tc>
              </a:tr>
              <a:tr h="35083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JetBrains Mono"/>
                        </a:rPr>
                        <a:t>Spring Core</a:t>
                      </a: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 · aspects</a:t>
                      </a:r>
                    </a:p>
                  </a:txBody>
                  <a:tcPr marL="139700" marR="139700" marT="76200" marB="76200" anchor="t">
                    <a:solidFill>
                      <a:srgbClr val="1D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chapter 6 of the book</a:t>
                      </a:r>
                    </a:p>
                  </a:txBody>
                  <a:tcPr marL="139700" marR="139700" marT="76200" marB="76200" anchor="t">
                    <a:solidFill>
                      <a:srgbClr val="1D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E2705A"/>
                          </a:solidFill>
                          <a:latin typeface="IBM Plex Sans"/>
                        </a:rPr>
                        <a:t>not in this course</a:t>
                      </a:r>
                    </a:p>
                  </a:txBody>
                  <a:tcPr marL="139700" marR="139700" marT="76200" marB="76200" anchor="t">
                    <a:solidFill>
                      <a:srgbClr val="1D315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800" y="4828540"/>
            <a:ext cx="10566400" cy="311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5F0"/>
                </a:solidFill>
                <a:latin typeface="IBM Plex Sans"/>
              </a:rPr>
              <a:t>It is built on top of itself. If today is unclear, everything after it is unclear.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Chapter 1 · section 1.4, the part most courses skip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79830"/>
            <a:ext cx="10566400" cy="486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7F5F0"/>
                </a:solidFill>
                <a:latin typeface="Space Grotesk"/>
              </a:rPr>
              <a:t>And when not to use 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793240"/>
            <a:ext cx="5200650" cy="450850"/>
          </a:xfrm>
          <a:prstGeom prst="roundRect">
            <a:avLst>
              <a:gd name="adj" fmla="val 19718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52500" y="1907540"/>
            <a:ext cx="492125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7F5F0"/>
                </a:solidFill>
                <a:latin typeface="IBM Plex Sans"/>
              </a:rPr>
              <a:t>The app has to stay tiny, like a serverless function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2332990"/>
            <a:ext cx="5200650" cy="450850"/>
          </a:xfrm>
          <a:prstGeom prst="roundRect">
            <a:avLst>
              <a:gd name="adj" fmla="val 19718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52500" y="2447290"/>
            <a:ext cx="492125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7F5F0"/>
                </a:solidFill>
                <a:latin typeface="IBM Plex Sans"/>
              </a:rPr>
              <a:t>Security rules say custom code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2872740"/>
            <a:ext cx="5200650" cy="450850"/>
          </a:xfrm>
          <a:prstGeom prst="roundRect">
            <a:avLst>
              <a:gd name="adj" fmla="val 19718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2500" y="2987040"/>
            <a:ext cx="492125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7F5F0"/>
                </a:solidFill>
                <a:latin typeface="IBM Plex Sans"/>
              </a:rPr>
              <a:t>You would customise it more than you would write without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" y="3412490"/>
            <a:ext cx="5200650" cy="450850"/>
          </a:xfrm>
          <a:prstGeom prst="roundRect">
            <a:avLst>
              <a:gd name="adj" fmla="val 19718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2500" y="3526790"/>
            <a:ext cx="492125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7F5F0"/>
                </a:solidFill>
                <a:latin typeface="IBM Plex Sans"/>
              </a:rPr>
              <a:t>The app already works and you gain nothing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550" y="1793240"/>
            <a:ext cx="5200650" cy="2794000"/>
          </a:xfrm>
          <a:prstGeom prst="roundRect">
            <a:avLst>
              <a:gd name="adj" fmla="val 3636"/>
            </a:avLst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fig1-4-ioc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50" y="1894840"/>
            <a:ext cx="4699000" cy="2590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8550" y="4650740"/>
            <a:ext cx="520065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figure 1.4 · Spring Start Here, Laurentiu Spilca, Manning Publications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4993640"/>
            <a:ext cx="10566400" cy="311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5F0"/>
                </a:solidFill>
                <a:latin typeface="IBM Plex Sans"/>
              </a:rPr>
              <a:t>Nothing fits every case. Next: the one idea in that second picture.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Week 1 · you wrote this yourself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256030"/>
            <a:ext cx="10566400" cy="528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7F5F0"/>
                </a:solidFill>
                <a:latin typeface="Space Grotesk"/>
              </a:rPr>
              <a:t>Who writes </a:t>
            </a:r>
            <a:r>
              <a:rPr sz="3600" b="1" i="0">
                <a:solidFill>
                  <a:srgbClr val="D4AF52"/>
                </a:solidFill>
                <a:latin typeface="JetBrains Mono"/>
              </a:rPr>
              <a:t>new</a:t>
            </a:r>
            <a:r>
              <a:rPr sz="3600" b="1" i="0">
                <a:solidFill>
                  <a:srgbClr val="F7F5F0"/>
                </a:solidFill>
                <a:latin typeface="Space Grotesk"/>
              </a:rPr>
              <a:t> for you?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987550"/>
            <a:ext cx="10566400" cy="741680"/>
          </a:xfrm>
          <a:prstGeom prst="roundRect">
            <a:avLst>
              <a:gd name="adj" fmla="val 13698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1400" y="2216150"/>
            <a:ext cx="10109200" cy="309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5F0"/>
                </a:solidFill>
                <a:latin typeface="JetBrains Mono"/>
              </a:rPr>
              <a:t>ObjectMapper mapper = </a:t>
            </a:r>
            <a:r>
              <a:rPr sz="1400" b="0" i="0">
                <a:solidFill>
                  <a:srgbClr val="D4AF52"/>
                </a:solidFill>
                <a:latin typeface="JetBrains Mono"/>
              </a:rPr>
              <a:t>new</a:t>
            </a:r>
            <a:r>
              <a:rPr sz="1400" b="0" i="0">
                <a:solidFill>
                  <a:srgbClr val="F7F5F0"/>
                </a:solidFill>
                <a:latin typeface="JetBrains Mono"/>
              </a:rPr>
              <a:t> ObjectMapper();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2957830"/>
            <a:ext cx="10566400" cy="350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7F5F0"/>
                </a:solidFill>
                <a:latin typeface="IBM Plex Sans"/>
              </a:rPr>
              <a:t>One object, one line. Fine. Now the real thing: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800" y="3511550"/>
            <a:ext cx="10566400" cy="1249680"/>
          </a:xfrm>
          <a:prstGeom prst="roundRect">
            <a:avLst>
              <a:gd name="adj" fmla="val 8130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1400" y="3740150"/>
            <a:ext cx="10109200" cy="817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JetBrains Mono"/>
              </a:rPr>
              <a:t>new</a:t>
            </a:r>
            <a:r>
              <a:rPr sz="1300" b="0" i="0">
                <a:solidFill>
                  <a:srgbClr val="F7F5F0"/>
                </a:solidFill>
                <a:latin typeface="JetBrains Mono"/>
              </a:rPr>
              <a:t> BookingService(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300" b="0" i="0">
                <a:solidFill>
                  <a:srgbClr val="D4AF52"/>
                </a:solidFill>
                <a:latin typeface="JetBrains Mono"/>
              </a:rPr>
              <a:t>new</a:t>
            </a:r>
            <a:r>
              <a:rPr sz="1300" b="0" i="0">
                <a:solidFill>
                  <a:srgbClr val="F7F5F0"/>
                </a:solidFill>
                <a:latin typeface="JetBrains Mono"/>
              </a:rPr>
              <a:t> SmtpEmailSender(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300" b="0" i="0">
                <a:solidFill>
                  <a:srgbClr val="D4AF52"/>
                </a:solidFill>
                <a:latin typeface="JetBrains Mono"/>
              </a:rPr>
              <a:t>new</a:t>
            </a:r>
            <a:r>
              <a:rPr sz="1300" b="0" i="0">
                <a:solidFill>
                  <a:srgbClr val="F7F5F0"/>
                </a:solidFill>
                <a:latin typeface="JetBrains Mono"/>
              </a:rPr>
              <a:t> MailConfig(host, port, user)))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4989830"/>
            <a:ext cx="105664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AB7CC"/>
                </a:solidFill>
                <a:latin typeface="IBM Plex Sans"/>
              </a:rPr>
              <a:t>Thirty services, in the right order, built once and shared. Someone has to own that job.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Before anything goes in it, you need the 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205230"/>
            <a:ext cx="10566400" cy="486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7F5F0"/>
                </a:solidFill>
                <a:latin typeface="Space Grotesk"/>
              </a:rPr>
              <a:t>The Spring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844040"/>
            <a:ext cx="10566400" cy="731520"/>
          </a:xfrm>
          <a:prstGeom prst="roundRect">
            <a:avLst>
              <a:gd name="adj" fmla="val 13888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1400" y="2072640"/>
            <a:ext cx="10109200" cy="299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FBFA6"/>
                </a:solidFill>
                <a:latin typeface="JetBrains Mono"/>
              </a:rPr>
              <a:t>var</a:t>
            </a:r>
            <a:r>
              <a:rPr sz="1350" b="0" i="0">
                <a:solidFill>
                  <a:srgbClr val="F7F5F0"/>
                </a:solidFill>
                <a:latin typeface="JetBrains Mono"/>
              </a:rPr>
              <a:t> context = </a:t>
            </a:r>
            <a:r>
              <a:rPr sz="1350" b="0" i="0">
                <a:solidFill>
                  <a:srgbClr val="D4AF52"/>
                </a:solidFill>
                <a:latin typeface="JetBrains Mono"/>
              </a:rPr>
              <a:t>new</a:t>
            </a:r>
            <a:r>
              <a:rPr sz="1350" b="0" i="0">
                <a:solidFill>
                  <a:srgbClr val="F7F5F0"/>
                </a:solidFill>
                <a:latin typeface="JetBrains Mono"/>
              </a:rPr>
              <a:t> AnnotationConfigApplicationContext(AppConfig.</a:t>
            </a:r>
            <a:r>
              <a:rPr sz="1350" b="0" i="0">
                <a:solidFill>
                  <a:srgbClr val="5FBFA6"/>
                </a:solidFill>
                <a:latin typeface="JetBrains Mono"/>
              </a:rPr>
              <a:t>class</a:t>
            </a:r>
            <a:r>
              <a:rPr sz="1350" b="0" i="0">
                <a:solidFill>
                  <a:srgbClr val="F7F5F0"/>
                </a:solidFill>
                <a:latin typeface="JetBrains Mono"/>
              </a:rPr>
              <a:t>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2753360"/>
            <a:ext cx="3445933" cy="953135"/>
          </a:xfrm>
          <a:prstGeom prst="roundRect">
            <a:avLst>
              <a:gd name="adj" fmla="val 9327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39800" y="2880360"/>
            <a:ext cx="3191933" cy="2317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4AF52"/>
                </a:solidFill>
                <a:latin typeface="JetBrains Mono"/>
              </a:rPr>
              <a:t>Annotation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9800" y="3137535"/>
            <a:ext cx="3191933" cy="46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AB7CC"/>
                </a:solidFill>
                <a:latin typeface="IBM Plex Sans"/>
              </a:rPr>
              <a:t>the configuration comes from notes on classes, not from an XML 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033" y="2753360"/>
            <a:ext cx="3445933" cy="953135"/>
          </a:xfrm>
          <a:prstGeom prst="roundRect">
            <a:avLst>
              <a:gd name="adj" fmla="val 9327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00033" y="2880360"/>
            <a:ext cx="3191933" cy="2317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4AF52"/>
                </a:solidFill>
                <a:latin typeface="JetBrains Mono"/>
              </a:rPr>
              <a:t>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33" y="3137535"/>
            <a:ext cx="3191933" cy="46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AB7CC"/>
                </a:solidFill>
                <a:latin typeface="IBM Plex Sans"/>
              </a:rPr>
              <a:t>and the class holding those notes is </a:t>
            </a:r>
            <a:r>
              <a:rPr sz="1200" b="0" i="0">
                <a:solidFill>
                  <a:srgbClr val="AAB7CC"/>
                </a:solidFill>
                <a:latin typeface="JetBrains Mono"/>
              </a:rPr>
              <a:t>AppConfig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33267" y="2753360"/>
            <a:ext cx="3445933" cy="953135"/>
          </a:xfrm>
          <a:prstGeom prst="roundRect">
            <a:avLst>
              <a:gd name="adj" fmla="val 9327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60267" y="2880360"/>
            <a:ext cx="3191933" cy="2317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4AF52"/>
                </a:solidFill>
                <a:latin typeface="JetBrains Mono"/>
              </a:rPr>
              <a:t>ApplicationContext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0267" y="3137535"/>
            <a:ext cx="3191933" cy="46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AB7CC"/>
                </a:solidFill>
                <a:latin typeface="IBM Plex Sans"/>
              </a:rPr>
              <a:t>the box itself. One object that holds your objects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3884295"/>
            <a:ext cx="10566400" cy="311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5F0"/>
                </a:solidFill>
                <a:latin typeface="IBM Plex Sans"/>
              </a:rPr>
              <a:t>From week 4, Spring Boot writes this line for you. You will not see it again, so look at it now.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config/AppConfig.java · one note on it, and nothing inside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92530"/>
            <a:ext cx="10566400" cy="4305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7F5F0"/>
                </a:solidFill>
                <a:latin typeface="Space Grotesk"/>
              </a:rPr>
              <a:t>And it starts empty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762760"/>
            <a:ext cx="10566400" cy="1249680"/>
          </a:xfrm>
          <a:prstGeom prst="roundRect">
            <a:avLst>
              <a:gd name="adj" fmla="val 8130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1400" y="1991360"/>
            <a:ext cx="10109200" cy="817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JetBrains Mono"/>
              </a:rPr>
              <a:t>@Configuration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BFA6"/>
                </a:solidFill>
                <a:latin typeface="JetBrains Mono"/>
              </a:rPr>
              <a:t>public class</a:t>
            </a:r>
            <a:r>
              <a:rPr sz="1300" b="0" i="0">
                <a:solidFill>
                  <a:srgbClr val="F7F5F0"/>
                </a:solidFill>
                <a:latin typeface="JetBrains Mono"/>
              </a:rPr>
              <a:t> AppConfig {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5F0"/>
                </a:solidFill>
                <a:latin typeface="JetBrains Mono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3177540"/>
            <a:ext cx="10566400" cy="1698625"/>
          </a:xfrm>
          <a:prstGeom prst="roundRect">
            <a:avLst>
              <a:gd name="adj" fmla="val 5981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41400" y="3406140"/>
            <a:ext cx="10109200" cy="1266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beans in the context: </a:t>
            </a:r>
            <a:r>
              <a:rPr sz="1150" b="0" i="0">
                <a:solidFill>
                  <a:srgbClr val="D4AF52"/>
                </a:solidFill>
                <a:latin typeface="JetBrains Mono"/>
              </a:rPr>
              <a:t>5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getBean(Event.</a:t>
            </a:r>
            <a:r>
              <a:rPr sz="1150" b="0" i="0">
                <a:solidFill>
                  <a:srgbClr val="5FBFA6"/>
                </a:solidFill>
                <a:latin typeface="JetBrains Mono"/>
              </a:rPr>
              <a:t>class</a:t>
            </a:r>
            <a:r>
              <a:rPr sz="1150" b="0" i="0">
                <a:solidFill>
                  <a:srgbClr val="F7F5F0"/>
                </a:solidFill>
                <a:latin typeface="JetBrains Mono"/>
              </a:rPr>
              <a:t>) -&gt; </a:t>
            </a:r>
            <a:r>
              <a:rPr sz="1150" b="0" i="0">
                <a:solidFill>
                  <a:srgbClr val="E2705A"/>
                </a:solidFill>
                <a:latin typeface="JetBrains Mono"/>
              </a:rPr>
              <a:t>No qualifying bean of type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150" b="0" i="0">
                <a:solidFill>
                  <a:srgbClr val="E2705A"/>
                </a:solidFill>
                <a:latin typeface="JetBrains Mono"/>
              </a:rPr>
              <a:t>'com.eventia.model.Event' available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new Event(1L, </a:t>
            </a:r>
            <a:r>
              <a:rPr sz="1150" b="0" i="0">
                <a:solidFill>
                  <a:srgbClr val="5FBFA6"/>
                </a:solidFill>
                <a:latin typeface="JetBrains Mono"/>
              </a:rPr>
              <a:t>"my own event"</a:t>
            </a:r>
            <a:r>
              <a:rPr sz="1150" b="0" i="0">
                <a:solidFill>
                  <a:srgbClr val="F7F5F0"/>
                </a:solidFill>
                <a:latin typeface="JetBrains Mono"/>
              </a:rPr>
              <a:t>, 10);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beans in the context: </a:t>
            </a:r>
            <a:r>
              <a:rPr sz="1150" b="0" i="0">
                <a:solidFill>
                  <a:srgbClr val="D4AF52"/>
                </a:solidFill>
                <a:latin typeface="JetBrains Mono"/>
              </a:rPr>
              <a:t>5</a:t>
            </a:r>
            <a:r>
              <a:rPr sz="115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150" b="0" i="0">
                <a:solidFill>
                  <a:srgbClr val="8FA8CC"/>
                </a:solidFill>
                <a:latin typeface="JetBrains Mono"/>
              </a:rPr>
              <a:t>← it did not move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5041265"/>
            <a:ext cx="10566400" cy="311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5F0"/>
                </a:solidFill>
                <a:latin typeface="IBM Plex Sans"/>
              </a:rPr>
              <a:t>Four of those five are Spring's own. The fifth is </a:t>
            </a:r>
            <a:r>
              <a:rPr sz="1500" b="0" i="0">
                <a:solidFill>
                  <a:srgbClr val="F7F5F0"/>
                </a:solidFill>
                <a:latin typeface="JetBrains Mono"/>
              </a:rPr>
              <a:t>AppConfig</a:t>
            </a:r>
            <a:r>
              <a:rPr sz="1500" b="0" i="0">
                <a:solidFill>
                  <a:srgbClr val="F7F5F0"/>
                </a:solidFill>
                <a:latin typeface="IBM Plex Sans"/>
              </a:rPr>
              <a:t> itself: a configuration class is a bean too.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2.1 in the book · one method, one note on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205230"/>
            <a:ext cx="10566400" cy="4305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7F5F0"/>
                </a:solidFill>
                <a:latin typeface="Space Grotesk"/>
              </a:rPr>
              <a:t>You put the first one in yourself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788160"/>
            <a:ext cx="10566400" cy="1554480"/>
          </a:xfrm>
          <a:prstGeom prst="roundRect">
            <a:avLst>
              <a:gd name="adj" fmla="val 6535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1400" y="2016760"/>
            <a:ext cx="10109200" cy="1122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4AF52"/>
                </a:solidFill>
                <a:latin typeface="JetBrains Mono"/>
              </a:rPr>
              <a:t>@Bean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FBFA6"/>
                </a:solidFill>
                <a:latin typeface="JetBrains Mono"/>
              </a:rPr>
              <a:t>public</a:t>
            </a:r>
            <a:r>
              <a:rPr sz="1350" b="0" i="0">
                <a:solidFill>
                  <a:srgbClr val="F7F5F0"/>
                </a:solidFill>
                <a:latin typeface="JetBrains Mono"/>
              </a:rPr>
              <a:t> Event workshop() {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350" b="0" i="0">
                <a:solidFill>
                  <a:srgbClr val="5FBFA6"/>
                </a:solidFill>
                <a:latin typeface="JetBrains Mono"/>
              </a:rPr>
              <a:t>return</a:t>
            </a:r>
            <a:r>
              <a:rPr sz="135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350" b="0" i="0">
                <a:solidFill>
                  <a:srgbClr val="D4AF52"/>
                </a:solidFill>
                <a:latin typeface="JetBrains Mono"/>
              </a:rPr>
              <a:t>new</a:t>
            </a:r>
            <a:r>
              <a:rPr sz="1350" b="0" i="0">
                <a:solidFill>
                  <a:srgbClr val="F7F5F0"/>
                </a:solidFill>
                <a:latin typeface="JetBrains Mono"/>
              </a:rPr>
              <a:t> Event(1L, </a:t>
            </a:r>
            <a:r>
              <a:rPr sz="1350" b="0" i="0">
                <a:solidFill>
                  <a:srgbClr val="5FBFA6"/>
                </a:solidFill>
                <a:latin typeface="JetBrains Mono"/>
              </a:rPr>
              <a:t>"Spring Boot Workshop"</a:t>
            </a:r>
            <a:r>
              <a:rPr sz="1350" b="0" i="0">
                <a:solidFill>
                  <a:srgbClr val="F7F5F0"/>
                </a:solidFill>
                <a:latin typeface="JetBrains Mono"/>
              </a:rPr>
              <a:t>, 40);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7F5F0"/>
                </a:solidFill>
                <a:latin typeface="JetBrains Mono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3520440"/>
            <a:ext cx="10566400" cy="1493520"/>
          </a:xfrm>
          <a:prstGeom prst="roundRect">
            <a:avLst>
              <a:gd name="adj" fmla="val 6802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41400" y="3749040"/>
            <a:ext cx="10109200" cy="1061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5F0"/>
                </a:solidFill>
                <a:latin typeface="JetBrains Mono"/>
              </a:rPr>
              <a:t>beans in the context: </a:t>
            </a:r>
            <a:r>
              <a:rPr sz="1200" b="0" i="0">
                <a:solidFill>
                  <a:srgbClr val="D4AF52"/>
                </a:solidFill>
                <a:latin typeface="JetBrains Mono"/>
              </a:rPr>
              <a:t>6</a:t>
            </a:r>
            <a:r>
              <a:rPr sz="120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200" b="0" i="0">
                <a:solidFill>
                  <a:srgbClr val="8FA8CC"/>
                </a:solidFill>
                <a:latin typeface="JetBrains Mono"/>
              </a:rPr>
              <a:t>← was 5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5F0"/>
                </a:solidFill>
                <a:latin typeface="JetBrains Mono"/>
              </a:rPr>
              <a:t> appConfig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200" b="0" i="0">
                <a:solidFill>
                  <a:srgbClr val="D4AF52"/>
                </a:solidFill>
                <a:latin typeface="JetBrains Mono"/>
              </a:rPr>
              <a:t>workshop</a:t>
            </a:r>
            <a:r>
              <a:rPr sz="120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200" b="0" i="0">
                <a:solidFill>
                  <a:srgbClr val="8FA8CC"/>
                </a:solidFill>
                <a:latin typeface="JetBrains Mono"/>
              </a:rPr>
              <a:t>← the method name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5F0"/>
                </a:solidFill>
                <a:latin typeface="JetBrains Mono"/>
              </a:rPr>
              <a:t>got it: Spring Boot Workshop with 40 seats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You wrote a method. You never call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79830"/>
            <a:ext cx="10566400" cy="4305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7F5F0"/>
                </a:solidFill>
                <a:latin typeface="Space Grotesk"/>
              </a:rPr>
              <a:t>What Spring did with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737360"/>
            <a:ext cx="3437467" cy="1053782"/>
          </a:xfrm>
          <a:prstGeom prst="roundRect">
            <a:avLst>
              <a:gd name="adj" fmla="val 9641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39800" y="1864360"/>
            <a:ext cx="3183467" cy="2628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4AF52"/>
                </a:solidFill>
                <a:latin typeface="Space Grotes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9800" y="2165350"/>
            <a:ext cx="3183467" cy="2397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7F5F0"/>
                </a:solidFill>
                <a:latin typeface="Space Grotesk"/>
              </a:rPr>
              <a:t>It called your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9800" y="2443162"/>
            <a:ext cx="3183467" cy="246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AB7CC"/>
                </a:solidFill>
                <a:latin typeface="IBM Plex Sans"/>
              </a:rPr>
              <a:t>once, while the context was starting 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7267" y="1737360"/>
            <a:ext cx="3437467" cy="1053782"/>
          </a:xfrm>
          <a:prstGeom prst="roundRect">
            <a:avLst>
              <a:gd name="adj" fmla="val 9641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04267" y="1864360"/>
            <a:ext cx="3183467" cy="2628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4AF52"/>
                </a:solidFill>
                <a:latin typeface="Space Grotesk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4267" y="2165350"/>
            <a:ext cx="3183467" cy="2397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7F5F0"/>
                </a:solidFill>
                <a:latin typeface="Space Grotesk"/>
              </a:rPr>
              <a:t>It kept what came 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4267" y="2443162"/>
            <a:ext cx="3183467" cy="246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AB7CC"/>
                </a:solidFill>
                <a:latin typeface="IBM Plex Sans"/>
              </a:rPr>
              <a:t>that object now lives in the box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1733" y="1737360"/>
            <a:ext cx="3437467" cy="1053782"/>
          </a:xfrm>
          <a:prstGeom prst="roundRect">
            <a:avLst>
              <a:gd name="adj" fmla="val 9641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68733" y="1864360"/>
            <a:ext cx="3183467" cy="2628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4AF52"/>
                </a:solidFill>
                <a:latin typeface="Space Grotes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8733" y="2165350"/>
            <a:ext cx="3183467" cy="2397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7F5F0"/>
                </a:solidFill>
                <a:latin typeface="Space Grotesk"/>
              </a:rPr>
              <a:t>It named it after the 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8733" y="2443162"/>
            <a:ext cx="3183467" cy="246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AB7CC"/>
                </a:solidFill>
                <a:latin typeface="JetBrains Mono"/>
              </a:rPr>
              <a:t>workshop</a:t>
            </a:r>
            <a:r>
              <a:rPr sz="1200" b="0" i="0">
                <a:solidFill>
                  <a:srgbClr val="AAB7CC"/>
                </a:solidFill>
                <a:latin typeface="IBM Plex Sans"/>
              </a:rPr>
              <a:t>, not </a:t>
            </a:r>
            <a:r>
              <a:rPr sz="1200" b="0" i="0">
                <a:solidFill>
                  <a:srgbClr val="AAB7CC"/>
                </a:solidFill>
                <a:latin typeface="JetBrains Mono"/>
              </a:rPr>
              <a:t>Event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2943542"/>
            <a:ext cx="10566400" cy="812800"/>
          </a:xfrm>
          <a:prstGeom prst="roundRect">
            <a:avLst>
              <a:gd name="adj" fmla="val 12500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5200" y="3095942"/>
            <a:ext cx="102616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4AF52"/>
                </a:solidFill>
                <a:latin typeface="JetBrains Mono"/>
              </a:rPr>
              <a:t>@Data</a:t>
            </a:r>
            <a:r>
              <a:rPr sz="125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250" b="0" i="0">
                <a:solidFill>
                  <a:srgbClr val="8FA8CC"/>
                </a:solidFill>
                <a:latin typeface="JetBrains Mono"/>
              </a:rPr>
              <a:t>// Lombok, the one you just met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FBFA6"/>
                </a:solidFill>
                <a:latin typeface="JetBrains Mono"/>
              </a:rPr>
              <a:t>public class</a:t>
            </a:r>
            <a:r>
              <a:rPr sz="1250" b="0" i="0">
                <a:solidFill>
                  <a:srgbClr val="F7F5F0"/>
                </a:solidFill>
                <a:latin typeface="JetBrains Mono"/>
              </a:rPr>
              <a:t> Event { ... } </a:t>
            </a:r>
            <a:r>
              <a:rPr sz="1250" b="0" i="0">
                <a:solidFill>
                  <a:srgbClr val="8FA8CC"/>
                </a:solidFill>
                <a:latin typeface="JetBrains Mono"/>
              </a:rPr>
              <a:t>// and not one Spring annotation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800" y="3908742"/>
            <a:ext cx="2555875" cy="689293"/>
          </a:xfrm>
          <a:prstGeom prst="roundRect">
            <a:avLst>
              <a:gd name="adj" fmla="val 12897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27100" y="4023042"/>
            <a:ext cx="2327275" cy="223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AF52"/>
                </a:solidFill>
                <a:latin typeface="JetBrains Mono"/>
              </a:rPr>
              <a:t>a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100" y="4271962"/>
            <a:ext cx="2327275" cy="2371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AB7CC"/>
                </a:solidFill>
                <a:latin typeface="IBM Plex Sans"/>
              </a:rPr>
              <a:t>the booking logic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82975" y="3908742"/>
            <a:ext cx="2555875" cy="689293"/>
          </a:xfrm>
          <a:prstGeom prst="roundRect">
            <a:avLst>
              <a:gd name="adj" fmla="val 12897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597275" y="4023042"/>
            <a:ext cx="2327275" cy="223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AF52"/>
                </a:solidFill>
                <a:latin typeface="JetBrains Mono"/>
              </a:rPr>
              <a:t>a repository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7275" y="4271962"/>
            <a:ext cx="2327275" cy="2371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AB7CC"/>
                </a:solidFill>
                <a:latin typeface="IBM Plex Sans"/>
              </a:rPr>
              <a:t>the thing that talks to the database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150" y="3908742"/>
            <a:ext cx="2555875" cy="689293"/>
          </a:xfrm>
          <a:prstGeom prst="roundRect">
            <a:avLst>
              <a:gd name="adj" fmla="val 12897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67450" y="4023042"/>
            <a:ext cx="2327275" cy="223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AF52"/>
                </a:solidFill>
                <a:latin typeface="JetBrains Mono"/>
              </a:rPr>
              <a:t>an email sender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7450" y="4271962"/>
            <a:ext cx="2327275" cy="2371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AB7CC"/>
                </a:solidFill>
                <a:latin typeface="IBM Plex Sans"/>
              </a:rPr>
              <a:t>one connection, shared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23325" y="3908742"/>
            <a:ext cx="2555875" cy="689293"/>
          </a:xfrm>
          <a:prstGeom prst="roundRect">
            <a:avLst>
              <a:gd name="adj" fmla="val 12897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937625" y="4023042"/>
            <a:ext cx="2327275" cy="223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AF52"/>
                </a:solidFill>
                <a:latin typeface="JetBrains Mono"/>
              </a:rPr>
              <a:t>a JSON mapper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37625" y="4271962"/>
            <a:ext cx="2327275" cy="2371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AB7CC"/>
                </a:solidFill>
                <a:latin typeface="IBM Plex Sans"/>
              </a:rPr>
              <a:t>one shared, set up once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Ask them before you run it: which one comes back?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92530"/>
            <a:ext cx="10566400" cy="486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7F5F0"/>
                </a:solidFill>
                <a:latin typeface="Space Grotesk"/>
              </a:rPr>
              <a:t>Two of them. Spring stops.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818640"/>
            <a:ext cx="10566400" cy="1513840"/>
          </a:xfrm>
          <a:prstGeom prst="roundRect">
            <a:avLst>
              <a:gd name="adj" fmla="val 6711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1400" y="2047240"/>
            <a:ext cx="10109200" cy="1082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JetBrains Mono"/>
              </a:rPr>
              <a:t>@Bean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BFA6"/>
                </a:solidFill>
                <a:latin typeface="JetBrains Mono"/>
              </a:rPr>
              <a:t>public</a:t>
            </a:r>
            <a:r>
              <a:rPr sz="1300" b="0" i="0">
                <a:solidFill>
                  <a:srgbClr val="F7F5F0"/>
                </a:solidFill>
                <a:latin typeface="JetBrains Mono"/>
              </a:rPr>
              <a:t> Event conference() {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300" b="0" i="0">
                <a:solidFill>
                  <a:srgbClr val="5FBFA6"/>
                </a:solidFill>
                <a:latin typeface="JetBrains Mono"/>
              </a:rPr>
              <a:t>return</a:t>
            </a:r>
            <a:r>
              <a:rPr sz="130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300" b="0" i="0">
                <a:solidFill>
                  <a:srgbClr val="D4AF52"/>
                </a:solidFill>
                <a:latin typeface="JetBrains Mono"/>
              </a:rPr>
              <a:t>new</a:t>
            </a:r>
            <a:r>
              <a:rPr sz="1300" b="0" i="0">
                <a:solidFill>
                  <a:srgbClr val="F7F5F0"/>
                </a:solidFill>
                <a:latin typeface="JetBrains Mono"/>
              </a:rPr>
              <a:t> Event(2L, </a:t>
            </a:r>
            <a:r>
              <a:rPr sz="1300" b="0" i="0">
                <a:solidFill>
                  <a:srgbClr val="5FBFA6"/>
                </a:solidFill>
                <a:latin typeface="JetBrains Mono"/>
              </a:rPr>
              <a:t>"Java Conference"</a:t>
            </a:r>
            <a:r>
              <a:rPr sz="1300" b="0" i="0">
                <a:solidFill>
                  <a:srgbClr val="F7F5F0"/>
                </a:solidFill>
                <a:latin typeface="JetBrains Mono"/>
              </a:rPr>
              <a:t>, 200);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5F0"/>
                </a:solidFill>
                <a:latin typeface="JetBrains Mono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3497580"/>
            <a:ext cx="10566400" cy="1450340"/>
          </a:xfrm>
          <a:prstGeom prst="roundRect">
            <a:avLst>
              <a:gd name="adj" fmla="val 7005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41400" y="3726180"/>
            <a:ext cx="10109200" cy="1018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beans in the context: </a:t>
            </a:r>
            <a:r>
              <a:rPr sz="1150" b="0" i="0">
                <a:solidFill>
                  <a:srgbClr val="D4AF52"/>
                </a:solidFill>
                <a:latin typeface="JetBrains Mono"/>
              </a:rPr>
              <a:t>7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getBean(Event.</a:t>
            </a:r>
            <a:r>
              <a:rPr sz="1150" b="0" i="0">
                <a:solidFill>
                  <a:srgbClr val="5FBFA6"/>
                </a:solidFill>
                <a:latin typeface="JetBrains Mono"/>
              </a:rPr>
              <a:t>class</a:t>
            </a:r>
            <a:r>
              <a:rPr sz="1150" b="0" i="0">
                <a:solidFill>
                  <a:srgbClr val="F7F5F0"/>
                </a:solidFill>
                <a:latin typeface="JetBrains Mono"/>
              </a:rPr>
              <a:t>) -&gt;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150" b="0" i="0">
                <a:solidFill>
                  <a:srgbClr val="E2705A"/>
                </a:solidFill>
                <a:latin typeface="JetBrains Mono"/>
              </a:rPr>
              <a:t>No qualifying bean of type 'com.eventia.model.Event' available: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150" b="0" i="0">
                <a:solidFill>
                  <a:srgbClr val="E2705A"/>
                </a:solidFill>
                <a:latin typeface="JetBrains Mono"/>
              </a:rPr>
              <a:t>expected single matching bean but found 2: </a:t>
            </a:r>
            <a:r>
              <a:rPr sz="1150" b="0" i="0">
                <a:solidFill>
                  <a:srgbClr val="D4AF52"/>
                </a:solidFill>
                <a:latin typeface="JetBrains Mono"/>
              </a:rPr>
              <a:t>workshop,conference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5113020"/>
            <a:ext cx="10566400" cy="311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5F0"/>
                </a:solidFill>
                <a:latin typeface="IBM Plex Sans"/>
              </a:rPr>
              <a:t>It will not guess. A silently wrong answer is worse than a stop.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The first way out: say which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79830"/>
            <a:ext cx="10566400" cy="45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7F5F0"/>
                </a:solidFill>
                <a:latin typeface="Space Grotesk"/>
              </a:rPr>
              <a:t>Ask for it by name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765300"/>
            <a:ext cx="10566400" cy="944880"/>
          </a:xfrm>
          <a:prstGeom prst="roundRect">
            <a:avLst>
              <a:gd name="adj" fmla="val 10752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1400" y="1993900"/>
            <a:ext cx="10109200" cy="513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5F0"/>
                </a:solidFill>
                <a:latin typeface="JetBrains Mono"/>
              </a:rPr>
              <a:t>context.getBean(</a:t>
            </a:r>
            <a:r>
              <a:rPr sz="1200" b="0" i="0">
                <a:solidFill>
                  <a:srgbClr val="5FBFA6"/>
                </a:solidFill>
                <a:latin typeface="JetBrains Mono"/>
              </a:rPr>
              <a:t>"workshop"</a:t>
            </a:r>
            <a:r>
              <a:rPr sz="1200" b="0" i="0">
                <a:solidFill>
                  <a:srgbClr val="F7F5F0"/>
                </a:solidFill>
                <a:latin typeface="JetBrains Mono"/>
              </a:rPr>
              <a:t>, Event.</a:t>
            </a:r>
            <a:r>
              <a:rPr sz="1200" b="0" i="0">
                <a:solidFill>
                  <a:srgbClr val="5FBFA6"/>
                </a:solidFill>
                <a:latin typeface="JetBrains Mono"/>
              </a:rPr>
              <a:t>class</a:t>
            </a:r>
            <a:r>
              <a:rPr sz="1200" b="0" i="0">
                <a:solidFill>
                  <a:srgbClr val="F7F5F0"/>
                </a:solidFill>
                <a:latin typeface="JetBrains Mono"/>
              </a:rPr>
              <a:t>); </a:t>
            </a:r>
            <a:r>
              <a:rPr sz="1200" b="0" i="0">
                <a:solidFill>
                  <a:srgbClr val="8FA8CC"/>
                </a:solidFill>
                <a:latin typeface="JetBrains Mono"/>
              </a:rPr>
              <a:t>// Spring Boot Workshop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5F0"/>
                </a:solidFill>
                <a:latin typeface="JetBrains Mono"/>
              </a:rPr>
              <a:t>context.getBean(</a:t>
            </a:r>
            <a:r>
              <a:rPr sz="1200" b="0" i="0">
                <a:solidFill>
                  <a:srgbClr val="5FBFA6"/>
                </a:solidFill>
                <a:latin typeface="JetBrains Mono"/>
              </a:rPr>
              <a:t>"conference"</a:t>
            </a:r>
            <a:r>
              <a:rPr sz="1200" b="0" i="0">
                <a:solidFill>
                  <a:srgbClr val="F7F5F0"/>
                </a:solidFill>
                <a:latin typeface="JetBrains Mono"/>
              </a:rPr>
              <a:t>, Event.</a:t>
            </a:r>
            <a:r>
              <a:rPr sz="1200" b="0" i="0">
                <a:solidFill>
                  <a:srgbClr val="5FBFA6"/>
                </a:solidFill>
                <a:latin typeface="JetBrains Mono"/>
              </a:rPr>
              <a:t>class</a:t>
            </a:r>
            <a:r>
              <a:rPr sz="1200" b="0" i="0">
                <a:solidFill>
                  <a:srgbClr val="F7F5F0"/>
                </a:solidFill>
                <a:latin typeface="JetBrains Mono"/>
              </a:rPr>
              <a:t>); </a:t>
            </a:r>
            <a:r>
              <a:rPr sz="1200" b="0" i="0">
                <a:solidFill>
                  <a:srgbClr val="8FA8CC"/>
                </a:solidFill>
                <a:latin typeface="JetBrains Mono"/>
              </a:rPr>
              <a:t>// Java Conference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2862580"/>
            <a:ext cx="10566400" cy="311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5F0"/>
                </a:solidFill>
                <a:latin typeface="IBM Plex Sans"/>
              </a:rPr>
              <a:t>And the name is just the method name, so you can change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800" y="3300730"/>
            <a:ext cx="10566400" cy="838200"/>
          </a:xfrm>
          <a:prstGeom prst="roundRect">
            <a:avLst>
              <a:gd name="adj" fmla="val 12121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77900" y="3465830"/>
            <a:ext cx="102362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4AF52"/>
                </a:solidFill>
                <a:latin typeface="JetBrains Mono"/>
              </a:rPr>
              <a:t>@Bean("mainEvent")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FBFA6"/>
                </a:solidFill>
                <a:latin typeface="JetBrains Mono"/>
              </a:rPr>
              <a:t>public</a:t>
            </a:r>
            <a:r>
              <a:rPr sz="1250" b="0" i="0">
                <a:solidFill>
                  <a:srgbClr val="F7F5F0"/>
                </a:solidFill>
                <a:latin typeface="JetBrains Mono"/>
              </a:rPr>
              <a:t> Event workshop() { ... 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800" y="4291330"/>
            <a:ext cx="10566400" cy="1202055"/>
          </a:xfrm>
          <a:prstGeom prst="roundRect">
            <a:avLst>
              <a:gd name="adj" fmla="val 8452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41400" y="4519930"/>
            <a:ext cx="10109200" cy="7702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AF52"/>
                </a:solidFill>
                <a:latin typeface="JetBrains Mono"/>
              </a:rPr>
              <a:t>mainEvent</a:t>
            </a:r>
            <a:r>
              <a:rPr sz="115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150" b="0" i="0">
                <a:solidFill>
                  <a:srgbClr val="8FA8CC"/>
                </a:solidFill>
                <a:latin typeface="JetBrains Mono"/>
              </a:rPr>
              <a:t>← the method name is gone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 conference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getBean(</a:t>
            </a:r>
            <a:r>
              <a:rPr sz="1150" b="0" i="0">
                <a:solidFill>
                  <a:srgbClr val="5FBFA6"/>
                </a:solidFill>
                <a:latin typeface="JetBrains Mono"/>
              </a:rPr>
              <a:t>"workshop"</a:t>
            </a:r>
            <a:r>
              <a:rPr sz="1150" b="0" i="0">
                <a:solidFill>
                  <a:srgbClr val="F7F5F0"/>
                </a:solidFill>
                <a:latin typeface="JetBrains Mono"/>
              </a:rPr>
              <a:t>) -&gt; </a:t>
            </a:r>
            <a:r>
              <a:rPr sz="1150" b="0" i="0">
                <a:solidFill>
                  <a:srgbClr val="E2705A"/>
                </a:solidFill>
                <a:latin typeface="JetBrains Mono"/>
              </a:rPr>
              <a:t>No bean named 'workshop' 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The second way out: do not say the name at 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205230"/>
            <a:ext cx="10566400" cy="486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7F5F0"/>
                </a:solidFill>
                <a:latin typeface="Space Grotesk"/>
              </a:rPr>
              <a:t>Mark one as the default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844040"/>
            <a:ext cx="10566400" cy="1778000"/>
          </a:xfrm>
          <a:prstGeom prst="roundRect">
            <a:avLst>
              <a:gd name="adj" fmla="val 5714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1400" y="2072640"/>
            <a:ext cx="10109200" cy="1346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JetBrains Mono"/>
              </a:rPr>
              <a:t>@Bean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JetBrains Mono"/>
              </a:rPr>
              <a:t>@Primary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BFA6"/>
                </a:solidFill>
                <a:latin typeface="JetBrains Mono"/>
              </a:rPr>
              <a:t>public</a:t>
            </a:r>
            <a:r>
              <a:rPr sz="1300" b="0" i="0">
                <a:solidFill>
                  <a:srgbClr val="F7F5F0"/>
                </a:solidFill>
                <a:latin typeface="JetBrains Mono"/>
              </a:rPr>
              <a:t> Event workshop() {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300" b="0" i="0">
                <a:solidFill>
                  <a:srgbClr val="5FBFA6"/>
                </a:solidFill>
                <a:latin typeface="JetBrains Mono"/>
              </a:rPr>
              <a:t>return</a:t>
            </a:r>
            <a:r>
              <a:rPr sz="130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300" b="0" i="0">
                <a:solidFill>
                  <a:srgbClr val="D4AF52"/>
                </a:solidFill>
                <a:latin typeface="JetBrains Mono"/>
              </a:rPr>
              <a:t>new</a:t>
            </a:r>
            <a:r>
              <a:rPr sz="1300" b="0" i="0">
                <a:solidFill>
                  <a:srgbClr val="F7F5F0"/>
                </a:solidFill>
                <a:latin typeface="JetBrains Mono"/>
              </a:rPr>
              <a:t> Event(1L, </a:t>
            </a:r>
            <a:r>
              <a:rPr sz="1300" b="0" i="0">
                <a:solidFill>
                  <a:srgbClr val="5FBFA6"/>
                </a:solidFill>
                <a:latin typeface="JetBrains Mono"/>
              </a:rPr>
              <a:t>"Spring Boot Workshop"</a:t>
            </a:r>
            <a:r>
              <a:rPr sz="1300" b="0" i="0">
                <a:solidFill>
                  <a:srgbClr val="F7F5F0"/>
                </a:solidFill>
                <a:latin typeface="JetBrains Mono"/>
              </a:rPr>
              <a:t>, 40);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5F0"/>
                </a:solidFill>
                <a:latin typeface="JetBrains Mono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3799840"/>
            <a:ext cx="10566400" cy="727075"/>
          </a:xfrm>
          <a:prstGeom prst="roundRect">
            <a:avLst>
              <a:gd name="adj" fmla="val 13973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41400" y="4028440"/>
            <a:ext cx="10109200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7F5F0"/>
                </a:solidFill>
                <a:latin typeface="JetBrains Mono"/>
              </a:rPr>
              <a:t>getBean(Event.</a:t>
            </a:r>
            <a:r>
              <a:rPr sz="1250" b="0" i="0">
                <a:solidFill>
                  <a:srgbClr val="5FBFA6"/>
                </a:solidFill>
                <a:latin typeface="JetBrains Mono"/>
              </a:rPr>
              <a:t>class</a:t>
            </a:r>
            <a:r>
              <a:rPr sz="1250" b="0" i="0">
                <a:solidFill>
                  <a:srgbClr val="F7F5F0"/>
                </a:solidFill>
                <a:latin typeface="JetBrains Mono"/>
              </a:rPr>
              <a:t>) now works -&gt; </a:t>
            </a:r>
            <a:r>
              <a:rPr sz="1250" b="0" i="0">
                <a:solidFill>
                  <a:srgbClr val="5FBFA6"/>
                </a:solidFill>
                <a:latin typeface="JetBrains Mono"/>
              </a:rPr>
              <a:t>Spring Boot Workshop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4704715"/>
            <a:ext cx="5226050" cy="757555"/>
          </a:xfrm>
          <a:prstGeom prst="roundRect">
            <a:avLst>
              <a:gd name="adj" fmla="val 11735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2500" y="4844415"/>
            <a:ext cx="4946650" cy="2317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4AF52"/>
                </a:solidFill>
                <a:latin typeface="JetBrains Mono"/>
              </a:rPr>
              <a:t>by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5101590"/>
            <a:ext cx="4946650" cy="246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AB7CC"/>
                </a:solidFill>
                <a:latin typeface="IBM Plex Sans"/>
              </a:rPr>
              <a:t>you decide every time you ask, in the asking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150" y="4704715"/>
            <a:ext cx="5226050" cy="978535"/>
          </a:xfrm>
          <a:prstGeom prst="roundRect">
            <a:avLst>
              <a:gd name="adj" fmla="val 9085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92850" y="4844415"/>
            <a:ext cx="4946650" cy="2317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4AF52"/>
                </a:solidFill>
                <a:latin typeface="JetBrains Mono"/>
              </a:rPr>
              <a:t>@Primary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2850" y="5101590"/>
            <a:ext cx="4946650" cy="46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AB7CC"/>
                </a:solidFill>
                <a:latin typeface="IBM Plex Sans"/>
              </a:rPr>
              <a:t>you decide once in the config, and callers need not know there was a choice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Clock belongs to the JDK. You cannot write a note on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54430"/>
            <a:ext cx="10566400" cy="416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7F5F0"/>
                </a:solidFill>
                <a:latin typeface="Space Grotesk"/>
              </a:rPr>
              <a:t>The classes that are not yours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672590"/>
            <a:ext cx="10566400" cy="1513840"/>
          </a:xfrm>
          <a:prstGeom prst="roundRect">
            <a:avLst>
              <a:gd name="adj" fmla="val 6711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1400" y="1901190"/>
            <a:ext cx="10109200" cy="1082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JetBrains Mono"/>
              </a:rPr>
              <a:t>@Bean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BFA6"/>
                </a:solidFill>
                <a:latin typeface="JetBrains Mono"/>
              </a:rPr>
              <a:t>public</a:t>
            </a:r>
            <a:r>
              <a:rPr sz="1300" b="0" i="0">
                <a:solidFill>
                  <a:srgbClr val="F7F5F0"/>
                </a:solidFill>
                <a:latin typeface="JetBrains Mono"/>
              </a:rPr>
              <a:t> Clock clock() {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300" b="0" i="0">
                <a:solidFill>
                  <a:srgbClr val="5FBFA6"/>
                </a:solidFill>
                <a:latin typeface="JetBrains Mono"/>
              </a:rPr>
              <a:t>return</a:t>
            </a:r>
            <a:r>
              <a:rPr sz="1300" b="0" i="0">
                <a:solidFill>
                  <a:srgbClr val="F7F5F0"/>
                </a:solidFill>
                <a:latin typeface="JetBrains Mono"/>
              </a:rPr>
              <a:t> Clock.systemUTC();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5F0"/>
                </a:solidFill>
                <a:latin typeface="JetBrains Mono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3313430"/>
            <a:ext cx="10566400" cy="1202055"/>
          </a:xfrm>
          <a:prstGeom prst="roundRect">
            <a:avLst>
              <a:gd name="adj" fmla="val 8452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41400" y="3542030"/>
            <a:ext cx="10109200" cy="7702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beans in the context: </a:t>
            </a:r>
            <a:r>
              <a:rPr sz="1150" b="0" i="0">
                <a:solidFill>
                  <a:srgbClr val="D4AF52"/>
                </a:solidFill>
                <a:latin typeface="JetBrains Mono"/>
              </a:rPr>
              <a:t>8</a:t>
            </a:r>
            <a:r>
              <a:rPr sz="115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150" b="0" i="0">
                <a:solidFill>
                  <a:srgbClr val="8FA8CC"/>
                </a:solidFill>
                <a:latin typeface="JetBrains Mono"/>
              </a:rPr>
              <a:t>← was 7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150" b="0" i="0">
                <a:solidFill>
                  <a:srgbClr val="D4AF52"/>
                </a:solidFill>
                <a:latin typeface="JetBrains Mono"/>
              </a:rPr>
              <a:t>clock</a:t>
            </a:r>
            <a:r>
              <a:rPr sz="115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150" b="0" i="0">
                <a:solidFill>
                  <a:srgbClr val="8FA8CC"/>
                </a:solidFill>
                <a:latin typeface="JetBrains Mono"/>
              </a:rPr>
              <a:t>← the method name again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got a class I do not own: java.time.Clock$SystemClock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4642485"/>
            <a:ext cx="3445933" cy="689293"/>
          </a:xfrm>
          <a:prstGeom prst="roundRect">
            <a:avLst>
              <a:gd name="adj" fmla="val 12897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27100" y="4756785"/>
            <a:ext cx="3217333" cy="223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AF52"/>
                </a:solidFill>
                <a:latin typeface="JetBrains Mono"/>
              </a:rPr>
              <a:t>a DataSource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7100" y="5005705"/>
            <a:ext cx="3217333" cy="2371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AB7CC"/>
                </a:solidFill>
                <a:latin typeface="IBM Plex Sans"/>
              </a:rPr>
              <a:t>the database connection pool. Week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3033" y="4642485"/>
            <a:ext cx="3445933" cy="689293"/>
          </a:xfrm>
          <a:prstGeom prst="roundRect">
            <a:avLst>
              <a:gd name="adj" fmla="val 12897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487333" y="4756785"/>
            <a:ext cx="3217333" cy="223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AF52"/>
                </a:solidFill>
                <a:latin typeface="JetBrains Mono"/>
              </a:rPr>
              <a:t>an HTTP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7333" y="5005705"/>
            <a:ext cx="3217333" cy="2371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AB7CC"/>
                </a:solidFill>
                <a:latin typeface="IBM Plex Sans"/>
              </a:rPr>
              <a:t>for calling another 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33267" y="4642485"/>
            <a:ext cx="3445933" cy="689293"/>
          </a:xfrm>
          <a:prstGeom prst="roundRect">
            <a:avLst>
              <a:gd name="adj" fmla="val 12897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47567" y="4756785"/>
            <a:ext cx="3217333" cy="223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AF52"/>
                </a:solidFill>
                <a:latin typeface="JetBrains Mono"/>
              </a:rPr>
              <a:t>ObjectMapper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7567" y="5005705"/>
            <a:ext cx="3217333" cy="2371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AB7CC"/>
                </a:solidFill>
                <a:latin typeface="IBM Plex Sans"/>
              </a:rPr>
              <a:t>the one you used in week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5458777"/>
            <a:ext cx="10566400" cy="311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5F0"/>
                </a:solidFill>
                <a:latin typeface="IBM Plex Sans"/>
              </a:rPr>
              <a:t>Week 1 you wrote </a:t>
            </a:r>
            <a:r>
              <a:rPr sz="1500" b="0" i="0">
                <a:solidFill>
                  <a:srgbClr val="F7F5F0"/>
                </a:solidFill>
                <a:latin typeface="JetBrains Mono"/>
              </a:rPr>
              <a:t>new ObjectMapper()</a:t>
            </a:r>
            <a:r>
              <a:rPr sz="1500" b="0" i="0">
                <a:solidFill>
                  <a:srgbClr val="F7F5F0"/>
                </a:solidFill>
                <a:latin typeface="IBM Plex Sans"/>
              </a:rPr>
              <a:t> by hand. Same problem, same door.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Your own classes. Is there a shorter way?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92530"/>
            <a:ext cx="10566400" cy="4305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7F5F0"/>
                </a:solidFill>
                <a:latin typeface="Space Grotesk"/>
              </a:rPr>
              <a:t>Four methods became one word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762760"/>
            <a:ext cx="5200650" cy="2662555"/>
          </a:xfrm>
          <a:prstGeom prst="roundRect">
            <a:avLst>
              <a:gd name="adj" fmla="val 3815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0600" y="1940560"/>
            <a:ext cx="4845050" cy="2317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705A"/>
                </a:solidFill>
                <a:latin typeface="Space Grotesk"/>
              </a:rPr>
              <a:t>what you had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2235835"/>
            <a:ext cx="4845050" cy="2037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4AF52"/>
                </a:solidFill>
                <a:latin typeface="JetBrains Mono"/>
              </a:rPr>
              <a:t>@Bean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7F5F0"/>
                </a:solidFill>
                <a:latin typeface="JetBrains Mono"/>
              </a:rPr>
              <a:t>public Event workshop() {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7F5F0"/>
                </a:solidFill>
                <a:latin typeface="JetBrains Mono"/>
              </a:rPr>
              <a:t> return new Event(...);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7F5F0"/>
                </a:solidFill>
                <a:latin typeface="JetBrains Mono"/>
              </a:rPr>
              <a:t>}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7F5F0"/>
                </a:solidFill>
                <a:latin typeface="JetBrains Mono"/>
              </a:rPr>
              <a:t> 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4AF52"/>
                </a:solidFill>
                <a:latin typeface="JetBrains Mono"/>
              </a:rPr>
              <a:t>@Bean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7F5F0"/>
                </a:solidFill>
                <a:latin typeface="JetBrains Mono"/>
              </a:rPr>
              <a:t>public Event conference() {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7F5F0"/>
                </a:solidFill>
                <a:latin typeface="JetBrains Mono"/>
              </a:rPr>
              <a:t> return new Event(...);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7F5F0"/>
                </a:solidFill>
                <a:latin typeface="JetBrains Mono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8550" y="1762760"/>
            <a:ext cx="5200650" cy="2439035"/>
          </a:xfrm>
          <a:prstGeom prst="roundRect">
            <a:avLst>
              <a:gd name="adj" fmla="val 4165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56350" y="1940560"/>
            <a:ext cx="4845050" cy="2317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FBFA6"/>
                </a:solidFill>
                <a:latin typeface="Space Grotesk"/>
              </a:rPr>
              <a:t>what you write instead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6350" y="2235835"/>
            <a:ext cx="4845050" cy="1813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4AF52"/>
                </a:solidFill>
                <a:latin typeface="JetBrains Mono"/>
              </a:rPr>
              <a:t>@Component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7F5F0"/>
                </a:solidFill>
                <a:latin typeface="JetBrains Mono"/>
              </a:rPr>
              <a:t>public class BookingService { ... }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7F5F0"/>
                </a:solidFill>
                <a:latin typeface="JetBrains Mono"/>
              </a:rPr>
              <a:t> 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7F5F0"/>
                </a:solidFill>
                <a:latin typeface="JetBrains Mono"/>
              </a:rPr>
              <a:t> 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4AF52"/>
                </a:solidFill>
                <a:latin typeface="JetBrains Mono"/>
              </a:rPr>
              <a:t>@Configuration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4AF52"/>
                </a:solidFill>
                <a:latin typeface="JetBrains Mono"/>
              </a:rPr>
              <a:t>@ComponentScan("com.eventia")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7F5F0"/>
                </a:solidFill>
                <a:latin typeface="JetBrains Mono"/>
              </a:rPr>
              <a:t>public class AppConfig {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7F5F0"/>
                </a:solidFill>
                <a:latin typeface="JetBrains Mono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4590415"/>
            <a:ext cx="10566400" cy="311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5F0"/>
                </a:solidFill>
                <a:latin typeface="IBM Plex Sans"/>
              </a:rPr>
              <a:t>Only for classes you own. </a:t>
            </a:r>
            <a:r>
              <a:rPr sz="1500" b="0" i="0">
                <a:solidFill>
                  <a:srgbClr val="F7F5F0"/>
                </a:solidFill>
                <a:latin typeface="JetBrains Mono"/>
              </a:rPr>
              <a:t>Clock</a:t>
            </a:r>
            <a:r>
              <a:rPr sz="1500" b="0" i="0">
                <a:solidFill>
                  <a:srgbClr val="F7F5F0"/>
                </a:solidFill>
                <a:latin typeface="IBM Plex Sans"/>
              </a:rPr>
              <a:t> stays a </a:t>
            </a:r>
            <a:r>
              <a:rPr sz="1500" b="0" i="0">
                <a:solidFill>
                  <a:srgbClr val="F7F5F0"/>
                </a:solidFill>
                <a:latin typeface="JetBrains Mono"/>
              </a:rPr>
              <a:t>@Bean</a:t>
            </a:r>
            <a:r>
              <a:rPr sz="1500" b="0" i="0">
                <a:solidFill>
                  <a:srgbClr val="F7F5F0"/>
                </a:solidFill>
                <a:latin typeface="IBM Plex Sans"/>
              </a:rPr>
              <a:t>, in the same config, next to this.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None of them runs. Each one is data Spring looks for.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79830"/>
            <a:ext cx="10566400" cy="4305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7F5F0"/>
                </a:solidFill>
                <a:latin typeface="Space Grotesk"/>
              </a:rPr>
              <a:t>The notes Spring reads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1737360"/>
          <a:ext cx="10566400" cy="1587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83200"/>
                <a:gridCol w="5283200"/>
              </a:tblGrid>
              <a:tr h="396875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D4AF52"/>
                          </a:solidFill>
                          <a:latin typeface="IBM Plex Sans"/>
                        </a:rPr>
                        <a:t>The note</a:t>
                      </a:r>
                    </a:p>
                  </a:txBody>
                  <a:tcPr marL="139700" marR="139700" marT="95250" marB="9525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D4AF52"/>
                          </a:solidFill>
                          <a:latin typeface="IBM Plex Sans"/>
                        </a:rPr>
                        <a:t>What Spring does when it reads it</a:t>
                      </a:r>
                    </a:p>
                  </a:txBody>
                  <a:tcPr marL="139700" marR="139700" marT="95250" marB="95250" anchor="t">
                    <a:noFill/>
                  </a:tcPr>
                </a:tc>
              </a:tr>
              <a:tr h="396875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AAB7CC"/>
                          </a:solidFill>
                          <a:latin typeface="JetBrains Mono"/>
                        </a:rPr>
                        <a:t>@Component</a:t>
                      </a:r>
                    </a:p>
                  </a:txBody>
                  <a:tcPr marL="139700" marR="139700" marT="95250" marB="95250" anchor="t">
                    <a:solidFill>
                      <a:srgbClr val="1D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AAB7CC"/>
                          </a:solidFill>
                          <a:latin typeface="IBM Plex Sans"/>
                        </a:rPr>
                        <a:t>build one object of this class and keep it</a:t>
                      </a:r>
                    </a:p>
                  </a:txBody>
                  <a:tcPr marL="139700" marR="139700" marT="95250" marB="95250" anchor="t">
                    <a:solidFill>
                      <a:srgbClr val="1D3153"/>
                    </a:solidFill>
                  </a:tcPr>
                </a:tc>
              </a:tr>
              <a:tr h="396875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AAB7CC"/>
                          </a:solidFill>
                          <a:latin typeface="JetBrains Mono"/>
                        </a:rPr>
                        <a:t>@ComponentScan</a:t>
                      </a:r>
                    </a:p>
                  </a:txBody>
                  <a:tcPr marL="139700" marR="139700" marT="95250" marB="9525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AAB7CC"/>
                          </a:solidFill>
                          <a:latin typeface="IBM Plex Sans"/>
                        </a:rPr>
                        <a:t>walk this package and find the notes yourself</a:t>
                      </a:r>
                    </a:p>
                  </a:txBody>
                  <a:tcPr marL="139700" marR="139700" marT="95250" marB="95250" anchor="t">
                    <a:noFill/>
                  </a:tcPr>
                </a:tc>
              </a:tr>
              <a:tr h="396875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AAB7CC"/>
                          </a:solidFill>
                          <a:latin typeface="JetBrains Mono"/>
                        </a:rPr>
                        <a:t>@Service</a:t>
                      </a:r>
                    </a:p>
                  </a:txBody>
                  <a:tcPr marL="139700" marR="139700" marT="95250" marB="95250" anchor="t">
                    <a:solidFill>
                      <a:srgbClr val="1D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AAB7CC"/>
                          </a:solidFill>
                          <a:latin typeface="IBM Plex Sans"/>
                        </a:rPr>
                        <a:t>the same as @Component, with a label on it</a:t>
                      </a:r>
                    </a:p>
                  </a:txBody>
                  <a:tcPr marL="139700" marR="139700" marT="95250" marB="95250" anchor="t">
                    <a:solidFill>
                      <a:srgbClr val="1D3153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12800" y="3477260"/>
            <a:ext cx="10566400" cy="1698625"/>
          </a:xfrm>
          <a:prstGeom prst="roundRect">
            <a:avLst>
              <a:gd name="adj" fmla="val 5981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1400" y="3705860"/>
            <a:ext cx="10109200" cy="1266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FA8CC"/>
                </a:solidFill>
                <a:latin typeface="JetBrains Mono"/>
              </a:rPr>
              <a:t>// Service.class.getAnnotations(), measured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@Target({TYPE})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@Retention(RUNTIME)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@Documented()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AF52"/>
                </a:solidFill>
                <a:latin typeface="JetBrains Mono"/>
              </a:rPr>
              <a:t>@Component("")</a:t>
            </a:r>
            <a:r>
              <a:rPr sz="115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150" b="0" i="0">
                <a:solidFill>
                  <a:srgbClr val="8FA8CC"/>
                </a:solidFill>
                <a:latin typeface="JetBrains Mono"/>
              </a:rPr>
              <a:t>← @Service IS a @Component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config/AppConfig.java · the @Bean methods are gone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79830"/>
            <a:ext cx="10566400" cy="486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7F5F0"/>
                </a:solidFill>
                <a:latin typeface="Space Grotesk"/>
              </a:rPr>
              <a:t>You hand over no 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793240"/>
            <a:ext cx="10566400" cy="1513840"/>
          </a:xfrm>
          <a:prstGeom prst="roundRect">
            <a:avLst>
              <a:gd name="adj" fmla="val 6711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1400" y="2021840"/>
            <a:ext cx="10109200" cy="1082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JetBrains Mono"/>
              </a:rPr>
              <a:t>@Configuration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JetBrains Mono"/>
              </a:rPr>
              <a:t>@ComponentScan(basePackages = "com.eventia")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BFA6"/>
                </a:solidFill>
                <a:latin typeface="JetBrains Mono"/>
              </a:rPr>
              <a:t>public class</a:t>
            </a:r>
            <a:r>
              <a:rPr sz="1300" b="0" i="0">
                <a:solidFill>
                  <a:srgbClr val="F7F5F0"/>
                </a:solidFill>
                <a:latin typeface="JetBrains Mono"/>
              </a:rPr>
              <a:t> AppConfig {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5F0"/>
                </a:solidFill>
                <a:latin typeface="JetBrains Mono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3459480"/>
            <a:ext cx="3437467" cy="1036638"/>
          </a:xfrm>
          <a:prstGeom prst="roundRect">
            <a:avLst>
              <a:gd name="adj" fmla="val 9800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39800" y="3586480"/>
            <a:ext cx="3183467" cy="2628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4AF52"/>
                </a:solidFill>
                <a:latin typeface="Space Grotes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9800" y="3887470"/>
            <a:ext cx="3183467" cy="2317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5F0"/>
                </a:solidFill>
                <a:latin typeface="Space Grotesk"/>
              </a:rPr>
              <a:t>It opens the package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" y="4157345"/>
            <a:ext cx="3183467" cy="2371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AB7CC"/>
                </a:solidFill>
                <a:latin typeface="IBM Plex Sans"/>
              </a:rPr>
              <a:t>the one, and only the one, you named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7267" y="3459480"/>
            <a:ext cx="3437467" cy="1036638"/>
          </a:xfrm>
          <a:prstGeom prst="roundRect">
            <a:avLst>
              <a:gd name="adj" fmla="val 9800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04267" y="3586480"/>
            <a:ext cx="3183467" cy="2628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4AF52"/>
                </a:solidFill>
                <a:latin typeface="Space Grotes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4267" y="3887470"/>
            <a:ext cx="3183467" cy="2317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5F0"/>
                </a:solidFill>
                <a:latin typeface="Space Grotesk"/>
              </a:rPr>
              <a:t>It looks at every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4267" y="4157345"/>
            <a:ext cx="3183467" cy="2371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AB7CC"/>
                </a:solidFill>
                <a:latin typeface="IBM Plex Sans"/>
              </a:rPr>
              <a:t>is there a note on it, or not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1733" y="3459480"/>
            <a:ext cx="3437467" cy="1036638"/>
          </a:xfrm>
          <a:prstGeom prst="roundRect">
            <a:avLst>
              <a:gd name="adj" fmla="val 9800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68733" y="3586480"/>
            <a:ext cx="3183467" cy="2628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4AF52"/>
                </a:solidFill>
                <a:latin typeface="Space Grotes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8733" y="3887470"/>
            <a:ext cx="3183467" cy="2317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5F0"/>
                </a:solidFill>
                <a:latin typeface="Space Grotesk"/>
              </a:rPr>
              <a:t>It builds the ones there 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8733" y="4157345"/>
            <a:ext cx="3183467" cy="2371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AB7CC"/>
                </a:solidFill>
                <a:latin typeface="IBM Plex Sans"/>
              </a:rPr>
              <a:t>and that is the whole trick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4648518"/>
            <a:ext cx="10566400" cy="311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5F0"/>
                </a:solidFill>
                <a:latin typeface="IBM Plex Sans"/>
              </a:rPr>
              <a:t>You said where to look. You never said what is in there. Add a class tomorrow and this file does not change.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Two ways to break it, and they look the same from outside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79830"/>
            <a:ext cx="10566400" cy="4025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7F5F0"/>
                </a:solidFill>
                <a:latin typeface="Space Grotesk"/>
              </a:rPr>
              <a:t>Same message, two different causes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709420"/>
            <a:ext cx="5200650" cy="1819275"/>
          </a:xfrm>
          <a:prstGeom prst="roundRect">
            <a:avLst>
              <a:gd name="adj" fmla="val 5584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0600" y="1887220"/>
            <a:ext cx="4845050" cy="2317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705A"/>
                </a:solidFill>
                <a:latin typeface="Space Grotesk"/>
              </a:rPr>
              <a:t>1 · take the note 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2182495"/>
            <a:ext cx="4845050" cy="1193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BFA6"/>
                </a:solidFill>
                <a:latin typeface="JetBrains Mono"/>
              </a:rPr>
              <a:t>public class</a:t>
            </a:r>
            <a:r>
              <a:rPr sz="1150" b="0" i="0">
                <a:solidFill>
                  <a:srgbClr val="F7F5F0"/>
                </a:solidFill>
                <a:latin typeface="JetBrains Mono"/>
              </a:rPr>
              <a:t> BookingService {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 ...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}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 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FA8CC"/>
                </a:solidFill>
                <a:latin typeface="JetBrains Mono"/>
              </a:rPr>
              <a:t>// the @Component line is gone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8550" y="1709420"/>
            <a:ext cx="5200650" cy="1585595"/>
          </a:xfrm>
          <a:prstGeom prst="roundRect">
            <a:avLst>
              <a:gd name="adj" fmla="val 6407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56350" y="1887220"/>
            <a:ext cx="4845050" cy="2317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705A"/>
                </a:solidFill>
                <a:latin typeface="Space Grotesk"/>
              </a:rPr>
              <a:t>2 · keep it, look elsewhere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6350" y="2182495"/>
            <a:ext cx="484505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AF52"/>
                </a:solidFill>
                <a:latin typeface="JetBrains Mono"/>
              </a:rPr>
              <a:t>@ComponentScan</a:t>
            </a:r>
            <a:r>
              <a:rPr sz="1150" b="0" i="0">
                <a:solidFill>
                  <a:srgbClr val="F7F5F0"/>
                </a:solidFill>
                <a:latin typeface="JetBrains Mono"/>
              </a:rPr>
              <a:t>(basePackages =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150" b="0" i="0">
                <a:solidFill>
                  <a:srgbClr val="E2705A"/>
                </a:solidFill>
                <a:latin typeface="JetBrains Mono"/>
              </a:rPr>
              <a:t>"com.other"</a:t>
            </a:r>
            <a:r>
              <a:rPr sz="1150" b="0" i="0">
                <a:solidFill>
                  <a:srgbClr val="F7F5F0"/>
                </a:solidFill>
                <a:latin typeface="JetBrains Mono"/>
              </a:rPr>
              <a:t>)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5F0"/>
                </a:solidFill>
                <a:latin typeface="JetBrains Mono"/>
              </a:rPr>
              <a:t> 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FA8CC"/>
                </a:solidFill>
                <a:latin typeface="JetBrains Mono"/>
              </a:rPr>
              <a:t>// the note is still on the class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" y="3681095"/>
            <a:ext cx="10566400" cy="716280"/>
          </a:xfrm>
          <a:prstGeom prst="roundRect">
            <a:avLst>
              <a:gd name="adj" fmla="val 14184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41400" y="3909695"/>
            <a:ext cx="10109200" cy="28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5F0"/>
                </a:solidFill>
                <a:latin typeface="JetBrains Mono"/>
              </a:rPr>
              <a:t>No qualifying bean of type 'com.eventia.service.BookingService'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4549775"/>
            <a:ext cx="10566400" cy="311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5F0"/>
                </a:solidFill>
                <a:latin typeface="IBM Plex Sans"/>
              </a:rPr>
              <a:t>One message. Twice. The note is not enough on its own: the class has to be where Spring is looking.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The question that asks itself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217930"/>
            <a:ext cx="10566400" cy="486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7F5F0"/>
                </a:solidFill>
                <a:latin typeface="Space Grotesk"/>
              </a:rPr>
              <a:t>Same box, two doors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1869440"/>
          <a:ext cx="10566399" cy="23336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2133"/>
                <a:gridCol w="3522133"/>
                <a:gridCol w="3522133"/>
              </a:tblGrid>
              <a:tr h="38893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D4AF52"/>
                          </a:solidFill>
                          <a:latin typeface="JetBrains Mono"/>
                        </a:rPr>
                        <a:t>@Bean</a:t>
                      </a:r>
                    </a:p>
                  </a:txBody>
                  <a:tcPr marL="139700" marR="139700" marT="95250" marB="9525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D4AF52"/>
                          </a:solidFill>
                          <a:latin typeface="IBM Plex Sans"/>
                        </a:rPr>
                        <a:t>stereotype</a:t>
                      </a:r>
                    </a:p>
                  </a:txBody>
                  <a:tcPr marL="139700" marR="139700" marT="95250" marB="9525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D4AF52"/>
                          </a:solidFill>
                          <a:latin typeface="IBM Plex Sans"/>
                        </a:rPr>
                        <a:t> </a:t>
                      </a:r>
                    </a:p>
                  </a:txBody>
                  <a:tcPr marL="139700" marR="139700" marT="95250" marB="95250" anchor="t">
                    <a:noFill/>
                  </a:tcPr>
                </a:tc>
              </a:tr>
              <a:tr h="38893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JetBrains Mono"/>
                        </a:rPr>
                        <a:t>@Bean</a:t>
                      </a: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 on a method in the config</a:t>
                      </a:r>
                    </a:p>
                  </a:txBody>
                  <a:tcPr marL="139700" marR="139700" marT="95250" marB="95250" anchor="t">
                    <a:solidFill>
                      <a:srgbClr val="1D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JetBrains Mono"/>
                        </a:rPr>
                        <a:t>@Component</a:t>
                      </a: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 on the class</a:t>
                      </a:r>
                    </a:p>
                  </a:txBody>
                  <a:tcPr marL="139700" marR="139700" marT="95250" marB="95250" anchor="t">
                    <a:solidFill>
                      <a:srgbClr val="1D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where the note goes</a:t>
                      </a:r>
                    </a:p>
                  </a:txBody>
                  <a:tcPr marL="139700" marR="139700" marT="95250" marB="95250" anchor="t">
                    <a:solidFill>
                      <a:srgbClr val="1D3153"/>
                    </a:solidFill>
                  </a:tcPr>
                </a:tc>
              </a:tr>
              <a:tr h="38893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a whole method per bean</a:t>
                      </a:r>
                    </a:p>
                  </a:txBody>
                  <a:tcPr marL="139700" marR="139700" marT="95250" marB="9525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one word</a:t>
                      </a:r>
                    </a:p>
                  </a:txBody>
                  <a:tcPr marL="139700" marR="139700" marT="95250" marB="9525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how much you write</a:t>
                      </a:r>
                    </a:p>
                  </a:txBody>
                  <a:tcPr marL="139700" marR="139700" marT="95250" marB="95250" anchor="t">
                    <a:noFill/>
                  </a:tcPr>
                </a:tc>
              </a:tr>
              <a:tr h="38893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5FBFA6"/>
                          </a:solidFill>
                          <a:latin typeface="IBM Plex Sans"/>
                        </a:rPr>
                        <a:t>yes</a:t>
                      </a:r>
                    </a:p>
                  </a:txBody>
                  <a:tcPr marL="139700" marR="139700" marT="95250" marB="95250" anchor="t">
                    <a:solidFill>
                      <a:srgbClr val="1D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E2705A"/>
                          </a:solidFill>
                          <a:latin typeface="IBM Plex Sans"/>
                        </a:rPr>
                        <a:t>no</a:t>
                      </a:r>
                    </a:p>
                  </a:txBody>
                  <a:tcPr marL="139700" marR="139700" marT="95250" marB="95250" anchor="t">
                    <a:solidFill>
                      <a:srgbClr val="1D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a class you do not own</a:t>
                      </a:r>
                    </a:p>
                  </a:txBody>
                  <a:tcPr marL="139700" marR="139700" marT="95250" marB="95250" anchor="t">
                    <a:solidFill>
                      <a:srgbClr val="1D3153"/>
                    </a:solidFill>
                  </a:tcPr>
                </a:tc>
              </a:tr>
              <a:tr h="38893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5FBFA6"/>
                          </a:solidFill>
                          <a:latin typeface="IBM Plex Sans"/>
                        </a:rPr>
                        <a:t>yes</a:t>
                      </a:r>
                    </a:p>
                  </a:txBody>
                  <a:tcPr marL="139700" marR="139700" marT="95250" marB="9525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E2705A"/>
                          </a:solidFill>
                          <a:latin typeface="IBM Plex Sans"/>
                        </a:rPr>
                        <a:t>no</a:t>
                      </a:r>
                    </a:p>
                  </a:txBody>
                  <a:tcPr marL="139700" marR="139700" marT="95250" marB="9525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several of the same type</a:t>
                      </a:r>
                    </a:p>
                  </a:txBody>
                  <a:tcPr marL="139700" marR="139700" marT="95250" marB="95250" anchor="t">
                    <a:noFill/>
                  </a:tcPr>
                </a:tc>
              </a:tr>
              <a:tr h="38893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only when you must</a:t>
                      </a:r>
                    </a:p>
                  </a:txBody>
                  <a:tcPr marL="139700" marR="139700" marT="95250" marB="95250" anchor="t">
                    <a:solidFill>
                      <a:srgbClr val="1D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5FBFA6"/>
                          </a:solidFill>
                          <a:latin typeface="IBM Plex Sans"/>
                        </a:rPr>
                        <a:t>everything else</a:t>
                      </a:r>
                    </a:p>
                  </a:txBody>
                  <a:tcPr marL="139700" marR="139700" marT="95250" marB="95250" anchor="t">
                    <a:solidFill>
                      <a:srgbClr val="1D31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AAB7CC"/>
                          </a:solidFill>
                          <a:latin typeface="IBM Plex Sans"/>
                        </a:rPr>
                        <a:t>what we use from here on</a:t>
                      </a:r>
                    </a:p>
                  </a:txBody>
                  <a:tcPr marL="139700" marR="139700" marT="95250" marB="95250" anchor="t">
                    <a:solidFill>
                      <a:srgbClr val="1D315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Run it. Eight became six, and the code got shorter.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92530"/>
            <a:ext cx="10566400" cy="4025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7F5F0"/>
                </a:solidFill>
                <a:latin typeface="Space Grotesk"/>
              </a:rPr>
              <a:t>One word did what four methods did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734820"/>
            <a:ext cx="10566400" cy="1493520"/>
          </a:xfrm>
          <a:prstGeom prst="roundRect">
            <a:avLst>
              <a:gd name="adj" fmla="val 6802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1400" y="1963420"/>
            <a:ext cx="10109200" cy="1061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5F0"/>
                </a:solidFill>
                <a:latin typeface="JetBrains Mono"/>
              </a:rPr>
              <a:t>INFO c.e.s.BookingService - ahmed@example.com booked a seat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5F0"/>
                </a:solidFill>
                <a:latin typeface="JetBrains Mono"/>
              </a:rPr>
              <a:t>INFO com.eventia.App - beans in the context: </a:t>
            </a:r>
            <a:r>
              <a:rPr sz="1200" b="0" i="0">
                <a:solidFill>
                  <a:srgbClr val="D4AF52"/>
                </a:solidFill>
                <a:latin typeface="JetBrains Mono"/>
              </a:rPr>
              <a:t>6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5F0"/>
                </a:solidFill>
                <a:latin typeface="JetBrains Mono"/>
              </a:rPr>
              <a:t>INFO com.eventia.App - bean name: </a:t>
            </a:r>
            <a:r>
              <a:rPr sz="1200" b="0" i="0">
                <a:solidFill>
                  <a:srgbClr val="D4AF52"/>
                </a:solidFill>
                <a:latin typeface="JetBrains Mono"/>
              </a:rPr>
              <a:t>bookingService</a:t>
            </a:r>
            <a:r>
              <a:rPr sz="120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200" b="0" i="0">
                <a:solidFill>
                  <a:srgbClr val="8FA8CC"/>
                </a:solidFill>
                <a:latin typeface="JetBrains Mono"/>
              </a:rPr>
              <a:t>← from the class name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5F0"/>
                </a:solidFill>
                <a:latin typeface="JetBrains Mono"/>
              </a:rPr>
              <a:t>INFO com.eventia.App - same instance? </a:t>
            </a:r>
            <a:r>
              <a:rPr sz="1200" b="0" i="0">
                <a:solidFill>
                  <a:srgbClr val="5FBFA6"/>
                </a:solidFill>
                <a:latin typeface="JetBrains Mono"/>
              </a:rPr>
              <a:t>true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3393440"/>
            <a:ext cx="3445933" cy="926465"/>
          </a:xfrm>
          <a:prstGeom prst="roundRect">
            <a:avLst>
              <a:gd name="adj" fmla="val 9595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39800" y="3520440"/>
            <a:ext cx="3191933" cy="223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AF52"/>
                </a:solidFill>
                <a:latin typeface="JetBrains Mono"/>
              </a:rPr>
              <a:t>6 beans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9800" y="3769360"/>
            <a:ext cx="3191933" cy="4489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AB7CC"/>
                </a:solidFill>
                <a:latin typeface="IBM Plex Sans"/>
              </a:rPr>
              <a:t>four are Spring's own, one is AppConfig, one is yours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033" y="3393440"/>
            <a:ext cx="3445933" cy="926465"/>
          </a:xfrm>
          <a:prstGeom prst="roundRect">
            <a:avLst>
              <a:gd name="adj" fmla="val 9595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00033" y="3520440"/>
            <a:ext cx="3191933" cy="223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AF52"/>
                </a:solidFill>
                <a:latin typeface="JetBrains Mono"/>
              </a:rPr>
              <a:t>bookingService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33" y="3769360"/>
            <a:ext cx="3191933" cy="4489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AB7CC"/>
                </a:solidFill>
                <a:latin typeface="IBM Plex Sans"/>
              </a:rPr>
              <a:t>the class name, not a method name. That is the last practical difference between the two doors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33267" y="3393440"/>
            <a:ext cx="3445933" cy="714693"/>
          </a:xfrm>
          <a:prstGeom prst="roundRect">
            <a:avLst>
              <a:gd name="adj" fmla="val 12438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60267" y="3520440"/>
            <a:ext cx="3191933" cy="223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AF52"/>
                </a:solidFill>
                <a:latin typeface="JetBrains Mono"/>
              </a:rPr>
              <a:t>same instance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0267" y="3769360"/>
            <a:ext cx="3191933" cy="2371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AB7CC"/>
                </a:solidFill>
                <a:latin typeface="IBM Plex Sans"/>
              </a:rPr>
              <a:t>asked twice, got the same object. A singleton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One log line inside the constructor, and three in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92530"/>
            <a:ext cx="10566400" cy="486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7F5F0"/>
                </a:solidFill>
                <a:latin typeface="Space Grotesk"/>
              </a:rPr>
              <a:t>Built before you asked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818640"/>
            <a:ext cx="10566400" cy="645160"/>
          </a:xfrm>
          <a:prstGeom prst="roundRect">
            <a:avLst>
              <a:gd name="adj" fmla="val 15748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03300" y="2009140"/>
            <a:ext cx="10185400" cy="28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5F0"/>
                </a:solidFill>
                <a:latin typeface="JetBrains Mono"/>
              </a:rPr>
              <a:t>public BookingService() { log.info(</a:t>
            </a:r>
            <a:r>
              <a:rPr sz="1300" b="0" i="0">
                <a:solidFill>
                  <a:srgbClr val="5FBFA6"/>
                </a:solidFill>
                <a:latin typeface="JetBrains Mono"/>
              </a:rPr>
              <a:t>"constructor ran"</a:t>
            </a:r>
            <a:r>
              <a:rPr sz="1300" b="0" i="0">
                <a:solidFill>
                  <a:srgbClr val="F7F5F0"/>
                </a:solidFill>
                <a:latin typeface="JetBrains Mono"/>
              </a:rPr>
              <a:t>); 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2628900"/>
            <a:ext cx="10566400" cy="1752600"/>
          </a:xfrm>
          <a:prstGeom prst="roundRect">
            <a:avLst>
              <a:gd name="adj" fmla="val 5797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41400" y="2857500"/>
            <a:ext cx="10109200" cy="132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5F0"/>
                </a:solidFill>
                <a:latin typeface="JetBrains Mono"/>
              </a:rPr>
              <a:t>INFO com.eventia.App - building the context now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5F0"/>
                </a:solidFill>
                <a:latin typeface="JetBrains Mono"/>
              </a:rPr>
              <a:t>INFO c.e.s.BookingService - </a:t>
            </a:r>
            <a:r>
              <a:rPr sz="1200" b="0" i="0">
                <a:solidFill>
                  <a:srgbClr val="D4AF52"/>
                </a:solidFill>
                <a:latin typeface="JetBrains Mono"/>
              </a:rPr>
              <a:t>constructor ran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5F0"/>
                </a:solidFill>
                <a:latin typeface="JetBrains Mono"/>
              </a:rPr>
              <a:t>INFO com.eventia.App - context ready, I asked for nothing yet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5F0"/>
                </a:solidFill>
                <a:latin typeface="JetBrains Mono"/>
              </a:rPr>
              <a:t>INFO com.eventia.App - now I asked</a:t>
            </a:r>
          </a:p>
          <a:p>
            <a:pPr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7F5F0"/>
                </a:solidFill>
                <a:latin typeface="JetBrains Mono"/>
              </a:rPr>
              <a:t>INFO c.e.s.BookingService - ahmed@example.com booked a seat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4546600"/>
            <a:ext cx="5194300" cy="1136650"/>
          </a:xfrm>
          <a:prstGeom prst="roundRect">
            <a:avLst>
              <a:gd name="adj" fmla="val 8938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16000" y="4749800"/>
            <a:ext cx="4787900" cy="2317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4AF52"/>
                </a:solidFill>
                <a:latin typeface="Space Grotesk"/>
              </a:rPr>
              <a:t>line 2 beat line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5019675"/>
            <a:ext cx="4787900" cy="4857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7F5F0"/>
                </a:solidFill>
                <a:latin typeface="Space Grotesk"/>
              </a:rPr>
              <a:t>Spring builds its singletons while the context starts, not when you 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4900" y="4546600"/>
            <a:ext cx="5194300" cy="906462"/>
          </a:xfrm>
          <a:prstGeom prst="roundRect">
            <a:avLst>
              <a:gd name="adj" fmla="val 11208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88100" y="4749800"/>
            <a:ext cx="4787900" cy="2317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4AF52"/>
                </a:solidFill>
                <a:latin typeface="Space Grotesk"/>
              </a:rPr>
              <a:t>and never again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8100" y="5019675"/>
            <a:ext cx="4787900" cy="255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7F5F0"/>
                </a:solidFill>
                <a:latin typeface="Space Grotesk"/>
              </a:rPr>
              <a:t>getBean built nothing. It looked one 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One thing we did not do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230630"/>
            <a:ext cx="10566400" cy="500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7F5F0"/>
                </a:solidFill>
                <a:latin typeface="Space Grotesk"/>
              </a:rPr>
              <a:t>Our service needed nothing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908810"/>
            <a:ext cx="10566400" cy="2042160"/>
          </a:xfrm>
          <a:prstGeom prst="roundRect">
            <a:avLst>
              <a:gd name="adj" fmla="val 4975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1400" y="2137410"/>
            <a:ext cx="10109200" cy="1610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JetBrains Mono"/>
              </a:rPr>
              <a:t>@Service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BFA6"/>
                </a:solidFill>
                <a:latin typeface="JetBrains Mono"/>
              </a:rPr>
              <a:t>public class</a:t>
            </a:r>
            <a:r>
              <a:rPr sz="1300" b="0" i="0">
                <a:solidFill>
                  <a:srgbClr val="F7F5F0"/>
                </a:solidFill>
                <a:latin typeface="JetBrains Mono"/>
              </a:rPr>
              <a:t> BookingService {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5F0"/>
                </a:solidFill>
                <a:latin typeface="JetBrains Mono"/>
              </a:rPr>
              <a:t> 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300" b="0" i="0">
                <a:solidFill>
                  <a:srgbClr val="5FBFA6"/>
                </a:solidFill>
                <a:latin typeface="JetBrains Mono"/>
              </a:rPr>
              <a:t>private final</a:t>
            </a:r>
            <a:r>
              <a:rPr sz="1300" b="0" i="0">
                <a:solidFill>
                  <a:srgbClr val="F7F5F0"/>
                </a:solidFill>
                <a:latin typeface="JetBrains Mono"/>
              </a:rPr>
              <a:t> </a:t>
            </a:r>
            <a:r>
              <a:rPr sz="1300" b="0" i="0">
                <a:solidFill>
                  <a:srgbClr val="D4AF52"/>
                </a:solidFill>
                <a:latin typeface="JetBrains Mono"/>
              </a:rPr>
              <a:t>EmailSender</a:t>
            </a:r>
            <a:r>
              <a:rPr sz="1300" b="0" i="0">
                <a:solidFill>
                  <a:srgbClr val="F7F5F0"/>
                </a:solidFill>
                <a:latin typeface="JetBrains Mono"/>
              </a:rPr>
              <a:t> emailSender;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5F0"/>
                </a:solidFill>
                <a:latin typeface="JetBrains Mono"/>
              </a:rPr>
              <a:t> </a:t>
            </a:r>
          </a:p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5F0"/>
                </a:solidFill>
                <a:latin typeface="JetBrains Mono"/>
              </a:rPr>
              <a:t> BookingService(</a:t>
            </a:r>
            <a:r>
              <a:rPr sz="1300" b="0" i="0">
                <a:solidFill>
                  <a:srgbClr val="D4AF52"/>
                </a:solidFill>
                <a:latin typeface="JetBrains Mono"/>
              </a:rPr>
              <a:t>EmailSender</a:t>
            </a:r>
            <a:r>
              <a:rPr sz="1300" b="0" i="0">
                <a:solidFill>
                  <a:srgbClr val="F7F5F0"/>
                </a:solidFill>
                <a:latin typeface="JetBrains Mono"/>
              </a:rPr>
              <a:t> emailSender) { ...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4154170"/>
            <a:ext cx="10566400" cy="350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7F5F0"/>
                </a:solidFill>
                <a:latin typeface="IBM Plex Sans"/>
              </a:rPr>
              <a:t>Next week it needs an </a:t>
            </a:r>
            <a:r>
              <a:rPr sz="1600" b="0" i="0">
                <a:solidFill>
                  <a:srgbClr val="F7F5F0"/>
                </a:solidFill>
                <a:latin typeface="JetBrains Mono"/>
              </a:rPr>
              <a:t>EmailSender</a:t>
            </a:r>
            <a:r>
              <a:rPr sz="1600" b="0" i="0">
                <a:solidFill>
                  <a:srgbClr val="F7F5F0"/>
                </a:solidFill>
                <a:latin typeface="IBM Plex Sans"/>
              </a:rPr>
              <a:t>, and Spring hands one in. That is dependency injection.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528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7F5F0"/>
                </a:solidFill>
                <a:latin typeface="Space Grotesk"/>
              </a:rPr>
              <a:t>Five things to take away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1493520"/>
            <a:ext cx="10566400" cy="670560"/>
          </a:xfrm>
          <a:prstGeom prst="roundRect">
            <a:avLst>
              <a:gd name="adj" fmla="val 15151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16000" y="1696720"/>
            <a:ext cx="254000" cy="273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4AF52"/>
                </a:solidFill>
                <a:latin typeface="Space Grotesk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7800" y="1696720"/>
            <a:ext cx="9728200" cy="28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7F5F0"/>
                </a:solidFill>
                <a:latin typeface="Space Grotesk"/>
              </a:rPr>
              <a:t>The level is chosen in the code. The threshold lives in a file outside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2278380"/>
            <a:ext cx="10566400" cy="670560"/>
          </a:xfrm>
          <a:prstGeom prst="roundRect">
            <a:avLst>
              <a:gd name="adj" fmla="val 15151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16000" y="2481580"/>
            <a:ext cx="254000" cy="273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4AF52"/>
                </a:solidFill>
                <a:latin typeface="Space Grotesk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7800" y="2481580"/>
            <a:ext cx="9728200" cy="28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7F5F0"/>
                </a:solidFill>
                <a:latin typeface="Space Grotesk"/>
              </a:rPr>
              <a:t>Braces, never plus. And the exception goes last, with no braces of its 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800" y="3063240"/>
            <a:ext cx="10566400" cy="670560"/>
          </a:xfrm>
          <a:prstGeom prst="roundRect">
            <a:avLst>
              <a:gd name="adj" fmla="val 15151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16000" y="3266440"/>
            <a:ext cx="254000" cy="273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4AF52"/>
                </a:solidFill>
                <a:latin typeface="Space Grotes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7800" y="3266440"/>
            <a:ext cx="9728200" cy="28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7F5F0"/>
                </a:solidFill>
                <a:latin typeface="Space Grotesk"/>
              </a:rPr>
              <a:t>error means something of mine is broken. A refused request is warn.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3848100"/>
            <a:ext cx="10566400" cy="670560"/>
          </a:xfrm>
          <a:prstGeom prst="roundRect">
            <a:avLst>
              <a:gd name="adj" fmla="val 15151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16000" y="4051300"/>
            <a:ext cx="254000" cy="273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4AF52"/>
                </a:solidFill>
                <a:latin typeface="Space Grotesk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7800" y="4051300"/>
            <a:ext cx="9728200" cy="28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7F5F0"/>
                </a:solidFill>
                <a:latin typeface="Space Grotesk"/>
              </a:rPr>
              <a:t>An annotation is data. Nothing happens until something reads it. Spring is that something.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" y="4632960"/>
            <a:ext cx="10566400" cy="670560"/>
          </a:xfrm>
          <a:prstGeom prst="roundRect">
            <a:avLst>
              <a:gd name="adj" fmla="val 15151"/>
            </a:avLst>
          </a:prstGeom>
          <a:solidFill>
            <a:srgbClr val="1D3153"/>
          </a:solidFill>
          <a:ln w="9525">
            <a:solidFill>
              <a:srgbClr val="314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16000" y="4836160"/>
            <a:ext cx="254000" cy="273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4AF52"/>
                </a:solidFill>
                <a:latin typeface="Space Grotesk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7800" y="4836160"/>
            <a:ext cx="9728200" cy="289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7F5F0"/>
                </a:solidFill>
                <a:latin typeface="Space Grotesk"/>
              </a:rPr>
              <a:t>You never wrote new. The container built it once and handed you the same instance.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61100"/>
            <a:ext cx="105664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94B4"/>
                </a:solidFill>
                <a:latin typeface="IBM Plex Sans"/>
              </a:rPr>
              <a:t>Java Spring · Week 2 · </a:t>
            </a:r>
            <a:r>
              <a:rPr sz="1200" b="0" i="0">
                <a:solidFill>
                  <a:srgbClr val="8094B4"/>
                </a:solidFill>
                <a:latin typeface="JetBrains Mono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997075"/>
            <a:ext cx="10566400" cy="2400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AF52"/>
                </a:solidFill>
                <a:latin typeface="Space Grotesk"/>
              </a:rPr>
              <a:t>Next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389505"/>
            <a:ext cx="1056640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7F5F0"/>
                </a:solidFill>
                <a:latin typeface="Space Grotesk"/>
              </a:rPr>
              <a:t>Dependency injection: Spring passes in what your service needs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3502025"/>
            <a:ext cx="3302000" cy="9525"/>
          </a:xfrm>
          <a:prstGeom prst="rect">
            <a:avLst/>
          </a:prstGeom>
          <a:solidFill>
            <a:srgbClr val="314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3686175"/>
            <a:ext cx="10566400" cy="349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7F5F0"/>
                </a:solidFill>
                <a:latin typeface="Space Grotesk"/>
              </a:rPr>
              <a:t>Eng. Mohamed Shehab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4187825"/>
            <a:ext cx="10566400" cy="273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094B4"/>
                </a:solidFill>
                <a:latin typeface="IBM Plex Sans"/>
              </a:rPr>
              <a:t>Faculty of Computers and Information, Menoufia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4613275"/>
            <a:ext cx="10566400" cy="273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094B4"/>
                </a:solidFill>
                <a:latin typeface="IBM Plex Sans"/>
              </a:rPr>
              <a:t>mohamed.shehab.fci@gmail.com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